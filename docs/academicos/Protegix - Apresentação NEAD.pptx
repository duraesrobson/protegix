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3" r:id="rId7"/>
    <p:sldId id="27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61" r:id="rId16"/>
    <p:sldId id="273" r:id="rId17"/>
    <p:sldId id="262" r:id="rId18"/>
    <p:sldId id="274" r:id="rId19"/>
    <p:sldId id="271" r:id="rId20"/>
  </p:sldIdLst>
  <p:sldSz cx="18288000" cy="10287000"/>
  <p:notesSz cx="6858000" cy="9144000"/>
  <p:embeddedFontLst>
    <p:embeddedFont>
      <p:font typeface="Arial Bold" panose="020B0604020202020204" charset="0"/>
      <p:regular r:id="rId22"/>
    </p:embeddedFont>
    <p:embeddedFont>
      <p:font typeface="Play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3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19.06.2026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67A8F-310D-9835-3697-57307B3FB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647236-D948-89F8-5662-1E5EB0B045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0C3FDE-E8F4-AB4E-A749-0E16329F3F1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EF06294-D8AB-A126-7D11-AD929376AB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2945191-C24B-59AC-B95A-0445152D95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23924-934E-7768-3603-014A172A50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CACAD-6E38-F8C5-7C17-3C648176F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12924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4FA33-2829-3FBB-4944-A6D57169B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6E2E5E-F1B9-7EC2-54A6-189F04BC6F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56CE9B-2FA4-8FEC-706C-7E2E7E26B2B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10A16A2-36D8-3593-8B7D-29676983EE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A05633E-7112-3E52-EE5C-B4471F4CC1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95CBC-D62C-AC58-10DD-4B06D570B6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0B4D3-1C7F-B693-DE72-6796D6FA81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17250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58AE9-F364-8208-5126-B859A0614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FBD0CC-42AB-C3E9-9F01-BB7705A86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0B7CD8-93FB-6501-1131-25CC0712B4C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B3CFE7E-FBC8-D135-5C37-F4F9FF53F7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9FB6DE7-104A-BB03-FF71-CA1FC2DB5E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D7DAD-B6F4-E5B9-26C1-88FD60F4F40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1C9AB8-6AAB-D38B-46A2-63A0B7868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31402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D83DB-229E-9052-4E05-9F8404A08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44B7F-080A-7237-B720-8082168418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7D5F70-2BA1-F6E0-5561-08DF5D462CC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83BB66E-9DDD-D5EA-875D-F3685E36A6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18DCAF1-97C5-65BE-2180-C712CBD8BF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63274-1884-8F31-3AAD-2046D9E516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E45E8-DAB3-4641-CDF4-591A8FCEB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595649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43F7B-EFCA-3960-D685-A9ECF299B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64BF40-3FCE-730A-014B-AAE108C51B7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C7FB3C-9F7B-6B73-802E-16959E90357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22DD371-339F-E570-1686-E1DA9EA71C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806B17E-A97B-D864-C5BE-8CFBADEB47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65FA8-72FE-D4FC-16B8-118758EDAC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7BAF1-887B-DFF7-3421-22E788043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24638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A7F8B-FD9F-0EA0-0976-4A75EFC81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BA9CCE-A644-D02F-12AC-9FB0FAEE77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BC2B38-9E70-1F64-1256-194D4E45CDD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3AED032-F140-DC8F-F0AD-C4BB5734C3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45C972E-7228-B1AB-9DAE-9FDCE8492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D48447-E2E0-745E-2CCC-E2BD875080C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3B35F-4F28-722A-BAFB-900C5D1CA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372709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3C87D-E516-1B46-5E91-4BB92F959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8E0A9A-A1DC-41AD-50EA-AAF794717D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1F68B-5D55-E530-8723-6CFE75383BC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8C3C1DE-FFFD-7635-EFF1-8DFBECD864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47203CA-267B-1107-659F-7B4EFF7A5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E5FEA-8E8C-318D-C4DB-2C9B02F22A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D84BA-A1CE-F9FA-125D-82EC128A5D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431053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CB6B3-D69F-9447-215E-538D54BD6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EABF57-3DAA-4436-DC4E-9180073612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383086-8682-813E-8419-6EE56DB2996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5929482-2FCE-7459-D87E-1C7695FEC3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B832E9D-5165-DAEC-7EB0-8314441946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38975-479F-7D83-7DCC-1D48D77EA80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1476C-2BE0-FCC2-13B8-8D5B753B9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334792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07292-D8F2-0F7B-8A25-A0B346265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C6D9C0-B5E9-05CB-C32A-0A999BEFCC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D0ADA3-6E8B-9676-3CB7-52E884857F5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D5F8648-0D24-7C2E-0BD2-5B36F00511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94C283D-D25F-1AB9-5FBA-31B5E9C237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BBD25-F08F-C5AA-8EB8-F765C043357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1804F-5C15-F23D-AC02-476C9496F0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904305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A100A-D2F2-C836-8BCD-D218DE518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CD254E-7A14-1D76-B620-F146103432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462C3-7044-334B-6EFD-034604C0257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4D4CAB9-3EE9-4DF6-EEE4-D1C15D7511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EF87186-FE81-CF58-3CCF-A4014C2C70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4A985-DC58-298C-B545-66C288C6287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ED1D7-B823-D7C8-E879-6C8607AC0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42326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EEED6-CED2-8FBE-C45A-50B1DB8AE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0D1165-AEC6-AFA8-7884-CC55E05AAF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FD86A-33B3-DFD7-ACF9-BF85D5592C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448F149-B3AB-2639-776A-262F202297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96D6A89-6B76-D213-5B99-39E84A7BC0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E637C-C6E4-CBD8-48C6-7A4439EDBDC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64C285-1FA9-CF6D-F18A-6F3230BA9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531968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74793-22CF-A5E2-9577-EA99A7BC4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E81F797-1FDB-1C8F-64A9-E0C4FD433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837402-BD61-EBBE-F2D2-1CB428C4E14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9A98CCF-4C76-82B3-62D4-34E6FE8097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293CEAD-815D-EDD1-27EE-481E14DEF4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34DCE-CF6F-FB3B-53DC-88915DEDFBC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D1D80-5113-A3E8-2775-1AD2DCDA5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69195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11.png"/><Relationship Id="rId5" Type="http://schemas.openxmlformats.org/officeDocument/2006/relationships/image" Target="../media/image1.jpeg"/><Relationship Id="rId10" Type="http://schemas.openxmlformats.org/officeDocument/2006/relationships/image" Target="../media/image10.png"/><Relationship Id="rId4" Type="http://schemas.openxmlformats.org/officeDocument/2006/relationships/image" Target="../media/image5.jpe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2.png"/><Relationship Id="rId10" Type="http://schemas.openxmlformats.org/officeDocument/2006/relationships/image" Target="../media/image17.jpg"/><Relationship Id="rId4" Type="http://schemas.openxmlformats.org/officeDocument/2006/relationships/image" Target="../media/image1.jpe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26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0" Type="http://schemas.openxmlformats.org/officeDocument/2006/relationships/image" Target="../media/image30.png"/><Relationship Id="rId4" Type="http://schemas.openxmlformats.org/officeDocument/2006/relationships/image" Target="../media/image27.png"/><Relationship Id="rId9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5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90238"/>
            <a:chOff x="0" y="0"/>
            <a:chExt cx="24384000" cy="137203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20318"/>
            </a:xfrm>
            <a:custGeom>
              <a:avLst/>
              <a:gdLst/>
              <a:ahLst/>
              <a:cxnLst/>
              <a:rect l="l" t="t" r="r" b="b"/>
              <a:pathLst>
                <a:path w="24384000" h="13720318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  <p:txBody>
            <a:bodyPr/>
            <a:lstStyle/>
            <a:p>
              <a:endParaRPr lang="pt-BR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72466" y="-38100"/>
            <a:ext cx="18360466" cy="10326948"/>
            <a:chOff x="0" y="0"/>
            <a:chExt cx="24480622" cy="137692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80647" cy="13769212"/>
            </a:xfrm>
            <a:custGeom>
              <a:avLst/>
              <a:gdLst/>
              <a:ahLst/>
              <a:cxnLst/>
              <a:rect l="l" t="t" r="r" b="b"/>
              <a:pathLst>
                <a:path w="24480647" h="13769212">
                  <a:moveTo>
                    <a:pt x="0" y="0"/>
                  </a:moveTo>
                  <a:lnTo>
                    <a:pt x="24480647" y="0"/>
                  </a:lnTo>
                  <a:lnTo>
                    <a:pt x="24480647" y="13769212"/>
                  </a:lnTo>
                  <a:lnTo>
                    <a:pt x="0" y="13769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2948" b="-396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06123" y="2212134"/>
            <a:ext cx="5915330" cy="5891946"/>
            <a:chOff x="0" y="0"/>
            <a:chExt cx="7887106" cy="78559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87081" cy="7855966"/>
            </a:xfrm>
            <a:custGeom>
              <a:avLst/>
              <a:gdLst/>
              <a:ahLst/>
              <a:cxnLst/>
              <a:rect l="l" t="t" r="r" b="b"/>
              <a:pathLst>
                <a:path w="7887081" h="7855966">
                  <a:moveTo>
                    <a:pt x="0" y="0"/>
                  </a:moveTo>
                  <a:lnTo>
                    <a:pt x="7887081" y="0"/>
                  </a:lnTo>
                  <a:lnTo>
                    <a:pt x="7887081" y="7855966"/>
                  </a:lnTo>
                  <a:lnTo>
                    <a:pt x="0" y="78559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</p:txBody>
        </p:sp>
      </p:grpSp>
      <p:sp>
        <p:nvSpPr>
          <p:cNvPr id="8" name="AutoShape 8"/>
          <p:cNvSpPr/>
          <p:nvPr/>
        </p:nvSpPr>
        <p:spPr>
          <a:xfrm rot="246959">
            <a:off x="10868596" y="2887589"/>
            <a:ext cx="1194216" cy="0"/>
          </a:xfrm>
          <a:prstGeom prst="line">
            <a:avLst/>
          </a:prstGeom>
          <a:ln w="47625" cap="rnd">
            <a:solidFill>
              <a:srgbClr val="76AD7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9" name="Group 9"/>
          <p:cNvGrpSpPr/>
          <p:nvPr/>
        </p:nvGrpSpPr>
        <p:grpSpPr>
          <a:xfrm>
            <a:off x="7513568" y="2524692"/>
            <a:ext cx="8950509" cy="5908358"/>
            <a:chOff x="0" y="0"/>
            <a:chExt cx="11934012" cy="7877810"/>
          </a:xfrm>
        </p:grpSpPr>
        <p:sp>
          <p:nvSpPr>
            <p:cNvPr id="10" name="Freeform 10"/>
            <p:cNvSpPr/>
            <p:nvPr/>
          </p:nvSpPr>
          <p:spPr>
            <a:xfrm>
              <a:off x="19050" y="19050"/>
              <a:ext cx="11895963" cy="7839710"/>
            </a:xfrm>
            <a:custGeom>
              <a:avLst/>
              <a:gdLst/>
              <a:ahLst/>
              <a:cxnLst/>
              <a:rect l="l" t="t" r="r" b="b"/>
              <a:pathLst>
                <a:path w="11895963" h="7839710">
                  <a:moveTo>
                    <a:pt x="0" y="0"/>
                  </a:moveTo>
                  <a:lnTo>
                    <a:pt x="11895963" y="0"/>
                  </a:lnTo>
                  <a:lnTo>
                    <a:pt x="11895963" y="7839710"/>
                  </a:lnTo>
                  <a:lnTo>
                    <a:pt x="0" y="78397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11934063" cy="7877810"/>
            </a:xfrm>
            <a:custGeom>
              <a:avLst/>
              <a:gdLst/>
              <a:ahLst/>
              <a:cxnLst/>
              <a:rect l="l" t="t" r="r" b="b"/>
              <a:pathLst>
                <a:path w="11934063" h="7877810">
                  <a:moveTo>
                    <a:pt x="19050" y="0"/>
                  </a:moveTo>
                  <a:lnTo>
                    <a:pt x="11915013" y="0"/>
                  </a:lnTo>
                  <a:cubicBezTo>
                    <a:pt x="11925554" y="0"/>
                    <a:pt x="11934063" y="8509"/>
                    <a:pt x="11934063" y="19050"/>
                  </a:cubicBezTo>
                  <a:lnTo>
                    <a:pt x="11934063" y="7858760"/>
                  </a:lnTo>
                  <a:cubicBezTo>
                    <a:pt x="11934063" y="7869301"/>
                    <a:pt x="11925554" y="7877810"/>
                    <a:pt x="11915013" y="7877810"/>
                  </a:cubicBezTo>
                  <a:lnTo>
                    <a:pt x="19050" y="7877810"/>
                  </a:lnTo>
                  <a:cubicBezTo>
                    <a:pt x="8509" y="7877810"/>
                    <a:pt x="0" y="7869301"/>
                    <a:pt x="0" y="7858760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7858760"/>
                  </a:lnTo>
                  <a:lnTo>
                    <a:pt x="19050" y="7858760"/>
                  </a:lnTo>
                  <a:lnTo>
                    <a:pt x="19050" y="7839710"/>
                  </a:lnTo>
                  <a:lnTo>
                    <a:pt x="11915013" y="7839710"/>
                  </a:lnTo>
                  <a:lnTo>
                    <a:pt x="11915013" y="7858760"/>
                  </a:lnTo>
                  <a:lnTo>
                    <a:pt x="11895963" y="7858760"/>
                  </a:lnTo>
                  <a:lnTo>
                    <a:pt x="11895963" y="19050"/>
                  </a:lnTo>
                  <a:lnTo>
                    <a:pt x="11915013" y="19050"/>
                  </a:lnTo>
                  <a:lnTo>
                    <a:pt x="11915013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</p:txBody>
        </p:sp>
      </p:grpSp>
      <p:sp>
        <p:nvSpPr>
          <p:cNvPr id="12" name="AutoShape 12"/>
          <p:cNvSpPr/>
          <p:nvPr/>
        </p:nvSpPr>
        <p:spPr>
          <a:xfrm>
            <a:off x="8596188" y="5167632"/>
            <a:ext cx="6930169" cy="28545"/>
          </a:xfrm>
          <a:prstGeom prst="line">
            <a:avLst/>
          </a:prstGeom>
          <a:ln w="19050" cap="rnd">
            <a:solidFill>
              <a:srgbClr val="AAA18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Box 13"/>
          <p:cNvSpPr txBox="1"/>
          <p:nvPr/>
        </p:nvSpPr>
        <p:spPr>
          <a:xfrm>
            <a:off x="7964782" y="6993634"/>
            <a:ext cx="8192982" cy="685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9"/>
              </a:lnSpc>
            </a:pPr>
            <a:r>
              <a:rPr lang="en-US" sz="1964" dirty="0" err="1">
                <a:solidFill>
                  <a:srgbClr val="243141"/>
                </a:solidFill>
                <a:latin typeface="Arial"/>
                <a:ea typeface="Arial"/>
                <a:cs typeface="Arial"/>
                <a:sym typeface="Arial"/>
              </a:rPr>
              <a:t>Integrantes</a:t>
            </a:r>
            <a:r>
              <a:rPr lang="en-US" sz="1964" dirty="0">
                <a:solidFill>
                  <a:srgbClr val="24314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algn="ctr">
              <a:lnSpc>
                <a:spcPts val="2829"/>
              </a:lnSpc>
            </a:pPr>
            <a:r>
              <a:rPr lang="en-US" sz="1964" b="1" dirty="0">
                <a:solidFill>
                  <a:srgbClr val="243141"/>
                </a:solidFill>
                <a:latin typeface="Arial"/>
                <a:ea typeface="Arial"/>
                <a:cs typeface="Arial"/>
                <a:sym typeface="Arial"/>
              </a:rPr>
              <a:t>Matheus Britto -  Mikaella Teixeira -  Robson Durães -  Salatiel Muzi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49366" y="2849494"/>
            <a:ext cx="8878913" cy="187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2"/>
              </a:lnSpc>
            </a:pPr>
            <a:r>
              <a:rPr lang="en-US" sz="4118" b="1" dirty="0">
                <a:solidFill>
                  <a:srgbClr val="243141"/>
                </a:solidFill>
                <a:latin typeface="Arial Bold"/>
                <a:ea typeface="Arial Bold"/>
                <a:cs typeface="Arial Bold"/>
                <a:sym typeface="Arial Bold"/>
              </a:rPr>
              <a:t>Segurança Digital: </a:t>
            </a:r>
            <a:r>
              <a:rPr lang="en-US" sz="4118" b="1" dirty="0" err="1">
                <a:solidFill>
                  <a:srgbClr val="243141"/>
                </a:solidFill>
                <a:latin typeface="Arial Bold"/>
                <a:ea typeface="Arial Bold"/>
                <a:cs typeface="Arial Bold"/>
                <a:sym typeface="Arial Bold"/>
              </a:rPr>
              <a:t>Conscientização</a:t>
            </a:r>
            <a:r>
              <a:rPr lang="en-US" sz="4118" b="1" dirty="0">
                <a:solidFill>
                  <a:srgbClr val="243141"/>
                </a:solidFill>
                <a:latin typeface="Arial Bold"/>
                <a:ea typeface="Arial Bold"/>
                <a:cs typeface="Arial Bold"/>
                <a:sym typeface="Arial Bold"/>
              </a:rPr>
              <a:t>, </a:t>
            </a:r>
            <a:r>
              <a:rPr lang="en-US" sz="4118" b="1" dirty="0" err="1">
                <a:solidFill>
                  <a:srgbClr val="243141"/>
                </a:solidFill>
                <a:latin typeface="Arial Bold"/>
                <a:ea typeface="Arial Bold"/>
                <a:cs typeface="Arial Bold"/>
                <a:sym typeface="Arial Bold"/>
              </a:rPr>
              <a:t>Práticas</a:t>
            </a:r>
            <a:r>
              <a:rPr lang="en-US" sz="4118" b="1" dirty="0">
                <a:solidFill>
                  <a:srgbClr val="243141"/>
                </a:solidFill>
                <a:latin typeface="Arial Bold"/>
                <a:ea typeface="Arial Bold"/>
                <a:cs typeface="Arial Bold"/>
                <a:sym typeface="Arial Bold"/>
              </a:rPr>
              <a:t> e </a:t>
            </a:r>
            <a:r>
              <a:rPr lang="en-US" sz="4118" b="1" dirty="0" err="1">
                <a:solidFill>
                  <a:srgbClr val="243141"/>
                </a:solidFill>
                <a:latin typeface="Arial Bold"/>
                <a:ea typeface="Arial Bold"/>
                <a:cs typeface="Arial Bold"/>
                <a:sym typeface="Arial Bold"/>
              </a:rPr>
              <a:t>Desafios</a:t>
            </a:r>
            <a:r>
              <a:rPr lang="en-US" sz="4118" b="1" dirty="0">
                <a:solidFill>
                  <a:srgbClr val="243141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118" b="1" dirty="0" err="1">
                <a:solidFill>
                  <a:srgbClr val="243141"/>
                </a:solidFill>
                <a:latin typeface="Arial Bold"/>
                <a:ea typeface="Arial Bold"/>
                <a:cs typeface="Arial Bold"/>
                <a:sym typeface="Arial Bold"/>
              </a:rPr>
              <a:t>na</a:t>
            </a:r>
            <a:r>
              <a:rPr lang="en-US" sz="4118" b="1" dirty="0">
                <a:solidFill>
                  <a:srgbClr val="243141"/>
                </a:solidFill>
                <a:latin typeface="Arial Bold"/>
                <a:ea typeface="Arial Bold"/>
                <a:cs typeface="Arial Bold"/>
                <a:sym typeface="Arial Bold"/>
              </a:rPr>
              <a:t> Era da </a:t>
            </a:r>
            <a:r>
              <a:rPr lang="en-US" sz="4118" b="1" dirty="0" err="1">
                <a:solidFill>
                  <a:srgbClr val="243141"/>
                </a:solidFill>
                <a:latin typeface="Arial Bold"/>
                <a:ea typeface="Arial Bold"/>
                <a:cs typeface="Arial Bold"/>
                <a:sym typeface="Arial Bold"/>
              </a:rPr>
              <a:t>Informação</a:t>
            </a:r>
            <a:endParaRPr lang="en-US" sz="4118" b="1" dirty="0">
              <a:solidFill>
                <a:srgbClr val="243141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161892" y="9622398"/>
            <a:ext cx="12456794" cy="596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1"/>
              </a:lnSpc>
            </a:pPr>
            <a:r>
              <a:rPr lang="en-US" sz="3725" b="1" dirty="0" err="1">
                <a:solidFill>
                  <a:srgbClr val="32445A"/>
                </a:solidFill>
                <a:latin typeface="Arial Bold"/>
                <a:ea typeface="Arial Bold"/>
                <a:cs typeface="Arial Bold"/>
                <a:sym typeface="Arial Bold"/>
              </a:rPr>
              <a:t>Disciplina</a:t>
            </a:r>
            <a:r>
              <a:rPr lang="en-US" sz="3725" b="1" dirty="0">
                <a:solidFill>
                  <a:srgbClr val="32445A"/>
                </a:solidFill>
                <a:latin typeface="Arial Bold"/>
                <a:ea typeface="Arial Bold"/>
                <a:cs typeface="Arial Bold"/>
                <a:sym typeface="Arial Bold"/>
              </a:rPr>
              <a:t>: Tema Integrador VII – Projeto de Pesquisa</a:t>
            </a:r>
          </a:p>
        </p:txBody>
      </p:sp>
      <p:sp>
        <p:nvSpPr>
          <p:cNvPr id="16" name="TextBox 16"/>
          <p:cNvSpPr txBox="1"/>
          <p:nvPr/>
        </p:nvSpPr>
        <p:spPr>
          <a:xfrm rot="5400000">
            <a:off x="14116451" y="5640858"/>
            <a:ext cx="6733608" cy="50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7"/>
              </a:lnSpc>
            </a:pPr>
            <a:r>
              <a:rPr lang="en-US" sz="3164" b="1">
                <a:solidFill>
                  <a:srgbClr val="32445A"/>
                </a:solidFill>
                <a:latin typeface="Arial Bold"/>
                <a:ea typeface="Arial Bold"/>
                <a:cs typeface="Arial Bold"/>
                <a:sym typeface="Arial Bold"/>
              </a:rPr>
              <a:t>Curso: Ciência da Computação</a:t>
            </a:r>
          </a:p>
        </p:txBody>
      </p:sp>
      <p:sp>
        <p:nvSpPr>
          <p:cNvPr id="17" name="AutoShape 17"/>
          <p:cNvSpPr/>
          <p:nvPr/>
        </p:nvSpPr>
        <p:spPr>
          <a:xfrm rot="8171999">
            <a:off x="16106518" y="9264529"/>
            <a:ext cx="1868233" cy="0"/>
          </a:xfrm>
          <a:prstGeom prst="line">
            <a:avLst/>
          </a:prstGeom>
          <a:ln w="47625" cap="rnd">
            <a:solidFill>
              <a:srgbClr val="3345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8" name="Group 18"/>
          <p:cNvGrpSpPr/>
          <p:nvPr/>
        </p:nvGrpSpPr>
        <p:grpSpPr>
          <a:xfrm>
            <a:off x="172188" y="8402798"/>
            <a:ext cx="2667698" cy="2496349"/>
            <a:chOff x="0" y="0"/>
            <a:chExt cx="3923246" cy="3671252"/>
          </a:xfrm>
        </p:grpSpPr>
        <p:sp>
          <p:nvSpPr>
            <p:cNvPr id="19" name="Freeform 19" descr="Logotipo  Descrição gerada automaticamente"/>
            <p:cNvSpPr/>
            <p:nvPr/>
          </p:nvSpPr>
          <p:spPr>
            <a:xfrm>
              <a:off x="0" y="0"/>
              <a:ext cx="3923284" cy="3671316"/>
            </a:xfrm>
            <a:custGeom>
              <a:avLst/>
              <a:gdLst/>
              <a:ahLst/>
              <a:cxnLst/>
              <a:rect l="l" t="t" r="r" b="b"/>
              <a:pathLst>
                <a:path w="3923284" h="3671316">
                  <a:moveTo>
                    <a:pt x="0" y="0"/>
                  </a:moveTo>
                  <a:lnTo>
                    <a:pt x="3923284" y="0"/>
                  </a:lnTo>
                  <a:lnTo>
                    <a:pt x="3923284" y="3671316"/>
                  </a:lnTo>
                  <a:lnTo>
                    <a:pt x="0" y="3671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686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618687" y="714108"/>
            <a:ext cx="1542821" cy="1524495"/>
            <a:chOff x="0" y="0"/>
            <a:chExt cx="2057095" cy="20326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57146" cy="2032635"/>
            </a:xfrm>
            <a:custGeom>
              <a:avLst/>
              <a:gdLst/>
              <a:ahLst/>
              <a:cxnLst/>
              <a:rect l="l" t="t" r="r" b="b"/>
              <a:pathLst>
                <a:path w="2057146" h="2032635">
                  <a:moveTo>
                    <a:pt x="0" y="0"/>
                  </a:moveTo>
                  <a:lnTo>
                    <a:pt x="2057146" y="0"/>
                  </a:lnTo>
                  <a:lnTo>
                    <a:pt x="2057146" y="2032635"/>
                  </a:lnTo>
                  <a:lnTo>
                    <a:pt x="0" y="2032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2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19200" y="2079993"/>
            <a:ext cx="4800610" cy="5045107"/>
            <a:chOff x="325996" y="0"/>
            <a:chExt cx="6400813" cy="6726809"/>
          </a:xfrm>
        </p:grpSpPr>
        <p:sp>
          <p:nvSpPr>
            <p:cNvPr id="23" name="Freeform 23"/>
            <p:cNvSpPr/>
            <p:nvPr/>
          </p:nvSpPr>
          <p:spPr>
            <a:xfrm>
              <a:off x="325996" y="0"/>
              <a:ext cx="6400813" cy="6726809"/>
            </a:xfrm>
            <a:custGeom>
              <a:avLst/>
              <a:gdLst/>
              <a:ahLst/>
              <a:cxnLst/>
              <a:rect l="l" t="t" r="r" b="b"/>
              <a:pathLst>
                <a:path w="6726809" h="6726809">
                  <a:moveTo>
                    <a:pt x="0" y="0"/>
                  </a:moveTo>
                  <a:lnTo>
                    <a:pt x="6726809" y="0"/>
                  </a:lnTo>
                  <a:lnTo>
                    <a:pt x="6726809" y="6726809"/>
                  </a:lnTo>
                  <a:lnTo>
                    <a:pt x="0" y="6726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094" r="1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8236132" y="5068919"/>
            <a:ext cx="7650280" cy="1397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3"/>
              </a:lnSpc>
            </a:pPr>
            <a:endParaRPr dirty="0"/>
          </a:p>
          <a:p>
            <a:pPr algn="ctr">
              <a:lnSpc>
                <a:spcPts val="3743"/>
              </a:lnSpc>
            </a:pPr>
            <a:r>
              <a:rPr lang="en-US" sz="2599" b="1" dirty="0" err="1">
                <a:solidFill>
                  <a:srgbClr val="243141"/>
                </a:solidFill>
                <a:latin typeface="Arial Bold"/>
                <a:ea typeface="Arial Bold"/>
                <a:cs typeface="Arial Bold"/>
                <a:sym typeface="Arial Bold"/>
              </a:rPr>
              <a:t>Análise</a:t>
            </a:r>
            <a:r>
              <a:rPr lang="en-US" sz="2599" b="1" dirty="0">
                <a:solidFill>
                  <a:srgbClr val="243141"/>
                </a:solidFill>
                <a:latin typeface="Arial Bold"/>
                <a:ea typeface="Arial Bold"/>
                <a:cs typeface="Arial Bold"/>
                <a:sym typeface="Arial Bold"/>
              </a:rPr>
              <a:t> do </a:t>
            </a:r>
            <a:r>
              <a:rPr lang="en-US" sz="2599" b="1" dirty="0" err="1">
                <a:solidFill>
                  <a:srgbClr val="243141"/>
                </a:solidFill>
                <a:latin typeface="Arial Bold"/>
                <a:ea typeface="Arial Bold"/>
                <a:cs typeface="Arial Bold"/>
                <a:sym typeface="Arial Bold"/>
              </a:rPr>
              <a:t>Comportamento</a:t>
            </a:r>
            <a:r>
              <a:rPr lang="en-US" sz="2599" b="1" dirty="0">
                <a:solidFill>
                  <a:srgbClr val="243141"/>
                </a:solidFill>
                <a:latin typeface="Arial Bold"/>
                <a:ea typeface="Arial Bold"/>
                <a:cs typeface="Arial Bold"/>
                <a:sym typeface="Arial Bold"/>
              </a:rPr>
              <a:t> dos Usuários no </a:t>
            </a:r>
            <a:r>
              <a:rPr lang="en-US" sz="2599" b="1" dirty="0" err="1">
                <a:solidFill>
                  <a:srgbClr val="243141"/>
                </a:solidFill>
                <a:latin typeface="Arial Bold"/>
                <a:ea typeface="Arial Bold"/>
                <a:cs typeface="Arial Bold"/>
                <a:sym typeface="Arial Bold"/>
              </a:rPr>
              <a:t>Ambiente</a:t>
            </a:r>
            <a:r>
              <a:rPr lang="en-US" sz="2599" b="1" dirty="0">
                <a:solidFill>
                  <a:srgbClr val="243141"/>
                </a:solidFill>
                <a:latin typeface="Arial Bold"/>
                <a:ea typeface="Arial Bold"/>
                <a:cs typeface="Arial Bold"/>
                <a:sym typeface="Arial Bold"/>
              </a:rPr>
              <a:t>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90238"/>
            <a:chOff x="0" y="0"/>
            <a:chExt cx="24384000" cy="137203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20318"/>
            </a:xfrm>
            <a:custGeom>
              <a:avLst/>
              <a:gdLst/>
              <a:ahLst/>
              <a:cxnLst/>
              <a:rect l="l" t="t" r="r" b="b"/>
              <a:pathLst>
                <a:path w="24384000" h="13720318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09424" y="1202870"/>
            <a:ext cx="14942582" cy="1130949"/>
            <a:chOff x="0" y="0"/>
            <a:chExt cx="19923442" cy="15079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923438" cy="1507929"/>
            </a:xfrm>
            <a:custGeom>
              <a:avLst/>
              <a:gdLst/>
              <a:ahLst/>
              <a:cxnLst/>
              <a:rect l="l" t="t" r="r" b="b"/>
              <a:pathLst>
                <a:path w="19923438" h="1507929">
                  <a:moveTo>
                    <a:pt x="0" y="0"/>
                  </a:moveTo>
                  <a:lnTo>
                    <a:pt x="19923438" y="0"/>
                  </a:lnTo>
                  <a:lnTo>
                    <a:pt x="19923438" y="1507929"/>
                  </a:lnTo>
                  <a:lnTo>
                    <a:pt x="0" y="1507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44" b="-20744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9923442" cy="152698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3345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INTRODUÇÃO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50924" y="0"/>
            <a:ext cx="2437076" cy="10287000"/>
            <a:chOff x="0" y="0"/>
            <a:chExt cx="3249435" cy="1371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49422" cy="13716000"/>
            </a:xfrm>
            <a:custGeom>
              <a:avLst/>
              <a:gdLst/>
              <a:ahLst/>
              <a:cxnLst/>
              <a:rect l="l" t="t" r="r" b="b"/>
              <a:pathLst>
                <a:path w="3249422" h="13716000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2817" r="-647509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145000" y="9534525"/>
            <a:ext cx="781812" cy="547688"/>
            <a:chOff x="0" y="0"/>
            <a:chExt cx="1042416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2414" cy="730250"/>
            </a:xfrm>
            <a:custGeom>
              <a:avLst/>
              <a:gdLst/>
              <a:ahLst/>
              <a:cxnLst/>
              <a:rect l="l" t="t" r="r" b="b"/>
              <a:pathLst>
                <a:path w="1042414" h="730250">
                  <a:moveTo>
                    <a:pt x="0" y="0"/>
                  </a:moveTo>
                  <a:lnTo>
                    <a:pt x="1042414" y="0"/>
                  </a:lnTo>
                  <a:lnTo>
                    <a:pt x="104241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81" r="-39881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042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43141"/>
                  </a:solidFill>
                  <a:latin typeface="Play"/>
                  <a:ea typeface="Play"/>
                  <a:cs typeface="Play"/>
                  <a:sym typeface="Play"/>
                </a:rPr>
                <a:t>‹#›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 rot="5400000">
            <a:off x="-4156296" y="6035740"/>
            <a:ext cx="8963416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Pesquisa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50797" y="-19050"/>
            <a:ext cx="8990571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 Digital</a:t>
            </a:r>
          </a:p>
        </p:txBody>
      </p:sp>
      <p:sp>
        <p:nvSpPr>
          <p:cNvPr id="14" name="AutoShape 14"/>
          <p:cNvSpPr/>
          <p:nvPr/>
        </p:nvSpPr>
        <p:spPr>
          <a:xfrm flipH="1">
            <a:off x="315887" y="180788"/>
            <a:ext cx="1383083" cy="1266962"/>
          </a:xfrm>
          <a:prstGeom prst="line">
            <a:avLst/>
          </a:prstGeom>
          <a:ln w="19050" cap="rnd">
            <a:solidFill>
              <a:srgbClr val="3345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5" name="Group 15"/>
          <p:cNvGrpSpPr/>
          <p:nvPr/>
        </p:nvGrpSpPr>
        <p:grpSpPr>
          <a:xfrm>
            <a:off x="-155534" y="8870823"/>
            <a:ext cx="1860937" cy="1860937"/>
            <a:chOff x="0" y="0"/>
            <a:chExt cx="2481250" cy="2481250"/>
          </a:xfrm>
        </p:grpSpPr>
        <p:sp>
          <p:nvSpPr>
            <p:cNvPr id="16" name="Freeform 16" descr="Logotipo  Descrição gerada automaticamente"/>
            <p:cNvSpPr/>
            <p:nvPr/>
          </p:nvSpPr>
          <p:spPr>
            <a:xfrm>
              <a:off x="0" y="0"/>
              <a:ext cx="2481199" cy="2481199"/>
            </a:xfrm>
            <a:custGeom>
              <a:avLst/>
              <a:gdLst/>
              <a:ahLst/>
              <a:cxnLst/>
              <a:rect l="l" t="t" r="r" b="b"/>
              <a:pathLst>
                <a:path w="2481199" h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" b="-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74935" y="3012052"/>
            <a:ext cx="14777071" cy="467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7"/>
              </a:lnSpc>
            </a:pP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digital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tornou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-se um dos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principais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desafios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sociedade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contemporânea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impulsionada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pelo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crescimento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acelerado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uso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 internet e das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tecnologias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ctr">
              <a:lnSpc>
                <a:spcPts val="4607"/>
              </a:lnSpc>
            </a:pP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 esse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avanço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aumentaram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significativamente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riscos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golpes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virtuais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vazamento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dados e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fraudes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eletrônicas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ctr">
              <a:lnSpc>
                <a:spcPts val="4607"/>
              </a:lnSpc>
            </a:pP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Nesse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torna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-se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essencial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promover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conscientização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incentivar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adoção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práticas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seguras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lang="en-US" sz="383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ambiente</a:t>
            </a:r>
            <a:r>
              <a:rPr lang="en-US" sz="383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digital.</a:t>
            </a:r>
          </a:p>
          <a:p>
            <a:pPr algn="ctr">
              <a:lnSpc>
                <a:spcPts val="4607"/>
              </a:lnSpc>
            </a:pPr>
            <a:endParaRPr lang="en-US" sz="383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90238"/>
            <a:chOff x="0" y="0"/>
            <a:chExt cx="24384000" cy="137203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20318"/>
            </a:xfrm>
            <a:custGeom>
              <a:avLst/>
              <a:gdLst/>
              <a:ahLst/>
              <a:cxnLst/>
              <a:rect l="l" t="t" r="r" b="b"/>
              <a:pathLst>
                <a:path w="24384000" h="13720318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92493" y="1592181"/>
            <a:ext cx="14942582" cy="1130949"/>
            <a:chOff x="0" y="0"/>
            <a:chExt cx="19923442" cy="15079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923438" cy="1507929"/>
            </a:xfrm>
            <a:custGeom>
              <a:avLst/>
              <a:gdLst/>
              <a:ahLst/>
              <a:cxnLst/>
              <a:rect l="l" t="t" r="r" b="b"/>
              <a:pathLst>
                <a:path w="19923438" h="1507929">
                  <a:moveTo>
                    <a:pt x="0" y="0"/>
                  </a:moveTo>
                  <a:lnTo>
                    <a:pt x="19923438" y="0"/>
                  </a:lnTo>
                  <a:lnTo>
                    <a:pt x="19923438" y="1507929"/>
                  </a:lnTo>
                  <a:lnTo>
                    <a:pt x="0" y="1507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44" b="-20744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9923442" cy="152698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759"/>
                </a:lnSpc>
              </a:pPr>
              <a:r>
                <a:rPr lang="en-US" sz="4800" b="1" dirty="0">
                  <a:solidFill>
                    <a:srgbClr val="3345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OBJETIVO DO PROJETO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50924" y="0"/>
            <a:ext cx="2437076" cy="10287000"/>
            <a:chOff x="0" y="0"/>
            <a:chExt cx="3249435" cy="1371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49422" cy="13716000"/>
            </a:xfrm>
            <a:custGeom>
              <a:avLst/>
              <a:gdLst/>
              <a:ahLst/>
              <a:cxnLst/>
              <a:rect l="l" t="t" r="r" b="b"/>
              <a:pathLst>
                <a:path w="3249422" h="13716000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2817" r="-647509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145000" y="9534525"/>
            <a:ext cx="781812" cy="547688"/>
            <a:chOff x="0" y="0"/>
            <a:chExt cx="1042416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2414" cy="730250"/>
            </a:xfrm>
            <a:custGeom>
              <a:avLst/>
              <a:gdLst/>
              <a:ahLst/>
              <a:cxnLst/>
              <a:rect l="l" t="t" r="r" b="b"/>
              <a:pathLst>
                <a:path w="1042414" h="730250">
                  <a:moveTo>
                    <a:pt x="0" y="0"/>
                  </a:moveTo>
                  <a:lnTo>
                    <a:pt x="1042414" y="0"/>
                  </a:lnTo>
                  <a:lnTo>
                    <a:pt x="104241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81" r="-39881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042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43141"/>
                  </a:solidFill>
                  <a:latin typeface="Play"/>
                  <a:ea typeface="Play"/>
                  <a:cs typeface="Play"/>
                  <a:sym typeface="Play"/>
                </a:rPr>
                <a:t>‹#›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 rot="5400000">
            <a:off x="-4289265" y="5882111"/>
            <a:ext cx="8963416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Pesquisa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796834" y="130788"/>
            <a:ext cx="8990571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 Digital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 rot="8250539">
            <a:off x="34528" y="973741"/>
            <a:ext cx="1875663" cy="0"/>
          </a:xfrm>
          <a:prstGeom prst="line">
            <a:avLst/>
          </a:prstGeom>
          <a:ln w="19050" cap="rnd">
            <a:solidFill>
              <a:srgbClr val="3345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5" name="Group 15"/>
          <p:cNvGrpSpPr/>
          <p:nvPr/>
        </p:nvGrpSpPr>
        <p:grpSpPr>
          <a:xfrm>
            <a:off x="-155534" y="8870823"/>
            <a:ext cx="1860937" cy="1860937"/>
            <a:chOff x="0" y="0"/>
            <a:chExt cx="2481250" cy="2481250"/>
          </a:xfrm>
        </p:grpSpPr>
        <p:sp>
          <p:nvSpPr>
            <p:cNvPr id="16" name="Freeform 16" descr="Logotipo  Descrição gerada automaticamente"/>
            <p:cNvSpPr/>
            <p:nvPr/>
          </p:nvSpPr>
          <p:spPr>
            <a:xfrm>
              <a:off x="0" y="0"/>
              <a:ext cx="2481199" cy="2481199"/>
            </a:xfrm>
            <a:custGeom>
              <a:avLst/>
              <a:gdLst/>
              <a:ahLst/>
              <a:cxnLst/>
              <a:rect l="l" t="t" r="r" b="b"/>
              <a:pathLst>
                <a:path w="2481199" h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" b="-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92490" y="3152775"/>
            <a:ext cx="14058437" cy="610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2"/>
              </a:lnSpc>
            </a:pP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Geral:</a:t>
            </a:r>
          </a:p>
          <a:p>
            <a:pPr algn="ctr">
              <a:lnSpc>
                <a:spcPts val="4402"/>
              </a:lnSpc>
            </a:pP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Analisar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nível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conhecimento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as </a:t>
            </a: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práticas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as </a:t>
            </a: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percepções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dos usuários </a:t>
            </a: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relação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à </a:t>
            </a: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digital.</a:t>
            </a:r>
          </a:p>
          <a:p>
            <a:pPr algn="ctr">
              <a:lnSpc>
                <a:spcPts val="4402"/>
              </a:lnSpc>
            </a:pPr>
            <a:endParaRPr lang="en-US" sz="366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4402"/>
              </a:lnSpc>
            </a:pP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Específicos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792163" lvl="1" indent="-396082" algn="ctr">
              <a:lnSpc>
                <a:spcPts val="4402"/>
              </a:lnSpc>
              <a:buFont typeface="Arial"/>
              <a:buChar char="•"/>
            </a:pP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Identificar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comportamentos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risco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ambiente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digital</a:t>
            </a:r>
          </a:p>
          <a:p>
            <a:pPr marL="792163" lvl="1" indent="-396082" algn="ctr">
              <a:lnSpc>
                <a:spcPts val="4402"/>
              </a:lnSpc>
              <a:buFont typeface="Arial"/>
              <a:buChar char="•"/>
            </a:pP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Avaliar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adoção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práticas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proteção</a:t>
            </a:r>
            <a:endParaRPr lang="en-US" sz="366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92163" lvl="1" indent="-396082" algn="ctr">
              <a:lnSpc>
                <a:spcPts val="4402"/>
              </a:lnSpc>
              <a:buFont typeface="Arial"/>
              <a:buChar char="•"/>
            </a:pP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Compreender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percepção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dos usuários </a:t>
            </a: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sobre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ameaças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digitais</a:t>
            </a:r>
            <a:endParaRPr lang="en-US" sz="366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92163" lvl="1" indent="-396082" algn="ctr">
              <a:lnSpc>
                <a:spcPts val="4402"/>
              </a:lnSpc>
              <a:buFont typeface="Arial"/>
              <a:buChar char="•"/>
            </a:pP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Promover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conscientização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meio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ações</a:t>
            </a:r>
            <a:r>
              <a:rPr lang="en-US" sz="366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6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educativas</a:t>
            </a:r>
            <a:endParaRPr lang="en-US" sz="366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4402"/>
              </a:lnSpc>
            </a:pPr>
            <a:endParaRPr lang="en-US" sz="366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4402"/>
              </a:lnSpc>
            </a:pPr>
            <a:endParaRPr lang="en-US" sz="366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90238"/>
            <a:chOff x="0" y="0"/>
            <a:chExt cx="24384000" cy="137203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20318"/>
            </a:xfrm>
            <a:custGeom>
              <a:avLst/>
              <a:gdLst/>
              <a:ahLst/>
              <a:cxnLst/>
              <a:rect l="l" t="t" r="r" b="b"/>
              <a:pathLst>
                <a:path w="24384000" h="13720318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0418" y="1254029"/>
            <a:ext cx="14942582" cy="1130949"/>
            <a:chOff x="0" y="0"/>
            <a:chExt cx="19923442" cy="15079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923438" cy="1507929"/>
            </a:xfrm>
            <a:custGeom>
              <a:avLst/>
              <a:gdLst/>
              <a:ahLst/>
              <a:cxnLst/>
              <a:rect l="l" t="t" r="r" b="b"/>
              <a:pathLst>
                <a:path w="19923438" h="1507929">
                  <a:moveTo>
                    <a:pt x="0" y="0"/>
                  </a:moveTo>
                  <a:lnTo>
                    <a:pt x="19923438" y="0"/>
                  </a:lnTo>
                  <a:lnTo>
                    <a:pt x="19923438" y="1507929"/>
                  </a:lnTo>
                  <a:lnTo>
                    <a:pt x="0" y="1507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44" b="-20744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9923442" cy="152698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3345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ATIVIDADES DESENVOLVIDAS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50924" y="0"/>
            <a:ext cx="2437076" cy="10287000"/>
            <a:chOff x="0" y="0"/>
            <a:chExt cx="3249435" cy="1371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49422" cy="13716000"/>
            </a:xfrm>
            <a:custGeom>
              <a:avLst/>
              <a:gdLst/>
              <a:ahLst/>
              <a:cxnLst/>
              <a:rect l="l" t="t" r="r" b="b"/>
              <a:pathLst>
                <a:path w="3249422" h="13716000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2817" r="-647509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145000" y="9534525"/>
            <a:ext cx="781812" cy="547688"/>
            <a:chOff x="0" y="0"/>
            <a:chExt cx="1042416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2414" cy="730250"/>
            </a:xfrm>
            <a:custGeom>
              <a:avLst/>
              <a:gdLst/>
              <a:ahLst/>
              <a:cxnLst/>
              <a:rect l="l" t="t" r="r" b="b"/>
              <a:pathLst>
                <a:path w="1042414" h="730250">
                  <a:moveTo>
                    <a:pt x="0" y="0"/>
                  </a:moveTo>
                  <a:lnTo>
                    <a:pt x="1042414" y="0"/>
                  </a:lnTo>
                  <a:lnTo>
                    <a:pt x="104241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81" r="-39881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042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43141"/>
                  </a:solidFill>
                  <a:latin typeface="Play"/>
                  <a:ea typeface="Play"/>
                  <a:cs typeface="Play"/>
                  <a:sym typeface="Play"/>
                </a:rPr>
                <a:t>‹#›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 rot="5400000">
            <a:off x="-4289265" y="5882111"/>
            <a:ext cx="8963416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Pesquisa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AutoShape 13"/>
          <p:cNvSpPr/>
          <p:nvPr/>
        </p:nvSpPr>
        <p:spPr>
          <a:xfrm rot="8250539">
            <a:off x="34528" y="973741"/>
            <a:ext cx="1875663" cy="0"/>
          </a:xfrm>
          <a:prstGeom prst="line">
            <a:avLst/>
          </a:prstGeom>
          <a:ln w="19050" cap="rnd">
            <a:solidFill>
              <a:srgbClr val="3345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4" name="Group 14"/>
          <p:cNvGrpSpPr/>
          <p:nvPr/>
        </p:nvGrpSpPr>
        <p:grpSpPr>
          <a:xfrm>
            <a:off x="-155534" y="8870823"/>
            <a:ext cx="1860937" cy="1860937"/>
            <a:chOff x="0" y="0"/>
            <a:chExt cx="2481250" cy="2481250"/>
          </a:xfrm>
        </p:grpSpPr>
        <p:sp>
          <p:nvSpPr>
            <p:cNvPr id="15" name="Freeform 15" descr="Logotipo  Descrição gerada automaticamente"/>
            <p:cNvSpPr/>
            <p:nvPr/>
          </p:nvSpPr>
          <p:spPr>
            <a:xfrm>
              <a:off x="0" y="0"/>
              <a:ext cx="2481199" cy="2481199"/>
            </a:xfrm>
            <a:custGeom>
              <a:avLst/>
              <a:gdLst/>
              <a:ahLst/>
              <a:cxnLst/>
              <a:rect l="l" t="t" r="r" b="b"/>
              <a:pathLst>
                <a:path w="2481199" h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" b="-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796834" y="130788"/>
            <a:ext cx="8990571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 Digital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796834" y="2924175"/>
            <a:ext cx="14201886" cy="673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en-US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Criação</a:t>
            </a:r>
            <a:r>
              <a:rPr lang="en-US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Protegix</a:t>
            </a:r>
            <a:endParaRPr lang="en-US" sz="398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en-US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Elaboração</a:t>
            </a:r>
            <a:r>
              <a:rPr lang="en-US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questionário</a:t>
            </a:r>
            <a:r>
              <a:rPr lang="en-US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online</a:t>
            </a:r>
          </a:p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en-US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r>
              <a:rPr lang="en-US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site/</a:t>
            </a:r>
            <a:r>
              <a:rPr lang="en-US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plataforma</a:t>
            </a:r>
            <a:endParaRPr lang="en-US" sz="398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en-US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Coleta de dados com </a:t>
            </a:r>
            <a:r>
              <a:rPr lang="en-US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</a:t>
            </a:r>
            <a:endParaRPr lang="en-US" sz="398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en-US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Divulgação</a:t>
            </a:r>
            <a:r>
              <a:rPr lang="en-US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nas</a:t>
            </a:r>
            <a:r>
              <a:rPr lang="en-US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redes </a:t>
            </a:r>
            <a:r>
              <a:rPr lang="en-US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sociais</a:t>
            </a:r>
            <a:endParaRPr lang="en-US" sz="398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en-US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Análise</a:t>
            </a:r>
            <a:r>
              <a:rPr lang="en-US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dos dados </a:t>
            </a:r>
            <a:r>
              <a:rPr lang="en-US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coletados</a:t>
            </a:r>
            <a:r>
              <a:rPr lang="en-US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Amostra</a:t>
            </a:r>
            <a:r>
              <a:rPr lang="en-US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101 </a:t>
            </a:r>
            <a:r>
              <a:rPr lang="en-US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</a:t>
            </a:r>
            <a:r>
              <a:rPr lang="en-US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en-US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Criação</a:t>
            </a:r>
            <a:r>
              <a:rPr lang="en-US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gráficos</a:t>
            </a:r>
            <a:r>
              <a:rPr lang="en-US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resultados</a:t>
            </a:r>
          </a:p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en-US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Produção</a:t>
            </a:r>
            <a:r>
              <a:rPr lang="en-US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artigo</a:t>
            </a:r>
            <a:r>
              <a:rPr lang="en-US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científico</a:t>
            </a:r>
            <a:endParaRPr lang="en-US" sz="398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en-US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r>
              <a:rPr lang="en-US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materiais</a:t>
            </a:r>
            <a:r>
              <a:rPr lang="en-US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educativos</a:t>
            </a:r>
            <a:endParaRPr lang="en-US" sz="398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4784"/>
              </a:lnSpc>
            </a:pPr>
            <a:endParaRPr lang="en-US" sz="398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4784"/>
              </a:lnSpc>
            </a:pPr>
            <a:endParaRPr lang="en-US" sz="398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90238"/>
            <a:chOff x="0" y="0"/>
            <a:chExt cx="24384000" cy="137203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20318"/>
            </a:xfrm>
            <a:custGeom>
              <a:avLst/>
              <a:gdLst/>
              <a:ahLst/>
              <a:cxnLst/>
              <a:rect l="l" t="t" r="r" b="b"/>
              <a:pathLst>
                <a:path w="24384000" h="13720318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  <p:txBody>
            <a:bodyPr/>
            <a:lstStyle/>
            <a:p>
              <a:endParaRPr lang="pt-BR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63901" y="2518015"/>
            <a:ext cx="4146219" cy="3278079"/>
            <a:chOff x="0" y="0"/>
            <a:chExt cx="5528292" cy="4370771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 l="26665" t="14201" r="22689" b="14614"/>
            <a:stretch>
              <a:fillRect/>
            </a:stretch>
          </p:blipFill>
          <p:spPr>
            <a:xfrm>
              <a:off x="0" y="0"/>
              <a:ext cx="5528292" cy="4370771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609429" y="923830"/>
            <a:ext cx="14942582" cy="1130949"/>
            <a:chOff x="0" y="0"/>
            <a:chExt cx="19923442" cy="15079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923438" cy="1507929"/>
            </a:xfrm>
            <a:custGeom>
              <a:avLst/>
              <a:gdLst/>
              <a:ahLst/>
              <a:cxnLst/>
              <a:rect l="l" t="t" r="r" b="b"/>
              <a:pathLst>
                <a:path w="19923438" h="1507929">
                  <a:moveTo>
                    <a:pt x="0" y="0"/>
                  </a:moveTo>
                  <a:lnTo>
                    <a:pt x="19923438" y="0"/>
                  </a:lnTo>
                  <a:lnTo>
                    <a:pt x="19923438" y="1507929"/>
                  </a:lnTo>
                  <a:lnTo>
                    <a:pt x="0" y="15079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7444" b="-207445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9923442" cy="152698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759"/>
                </a:lnSpc>
              </a:pPr>
              <a:r>
                <a:rPr lang="en-US" sz="4800" b="1" dirty="0">
                  <a:solidFill>
                    <a:srgbClr val="3345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ATIVIDADES DESENVOLVIDAS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850924" y="0"/>
            <a:ext cx="2437076" cy="10287000"/>
            <a:chOff x="0" y="0"/>
            <a:chExt cx="3249435" cy="13716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49422" cy="13716000"/>
            </a:xfrm>
            <a:custGeom>
              <a:avLst/>
              <a:gdLst/>
              <a:ahLst/>
              <a:cxnLst/>
              <a:rect l="l" t="t" r="r" b="b"/>
              <a:pathLst>
                <a:path w="3249422" h="13716000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2817" r="-647509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45000" y="9534525"/>
            <a:ext cx="781812" cy="547688"/>
            <a:chOff x="0" y="0"/>
            <a:chExt cx="1042416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42414" cy="730250"/>
            </a:xfrm>
            <a:custGeom>
              <a:avLst/>
              <a:gdLst/>
              <a:ahLst/>
              <a:cxnLst/>
              <a:rect l="l" t="t" r="r" b="b"/>
              <a:pathLst>
                <a:path w="1042414" h="730250">
                  <a:moveTo>
                    <a:pt x="0" y="0"/>
                  </a:moveTo>
                  <a:lnTo>
                    <a:pt x="1042414" y="0"/>
                  </a:lnTo>
                  <a:lnTo>
                    <a:pt x="104241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881" r="-39881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042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520"/>
                </a:lnSpc>
              </a:pPr>
              <a:r>
                <a:rPr lang="en-US" sz="2100" dirty="0">
                  <a:solidFill>
                    <a:srgbClr val="243141"/>
                  </a:solidFill>
                  <a:latin typeface="Play"/>
                  <a:ea typeface="Play"/>
                  <a:cs typeface="Play"/>
                  <a:sym typeface="Play"/>
                </a:rPr>
                <a:t>‹#›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 rot="5400000">
            <a:off x="-4289265" y="5882111"/>
            <a:ext cx="8963416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Pesquisa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 rot="8250539">
            <a:off x="34528" y="973741"/>
            <a:ext cx="1875663" cy="0"/>
          </a:xfrm>
          <a:prstGeom prst="line">
            <a:avLst/>
          </a:prstGeom>
          <a:ln w="19050" cap="rnd">
            <a:solidFill>
              <a:srgbClr val="3345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16" name="Group 16"/>
          <p:cNvGrpSpPr/>
          <p:nvPr/>
        </p:nvGrpSpPr>
        <p:grpSpPr>
          <a:xfrm>
            <a:off x="-155534" y="8870823"/>
            <a:ext cx="1860937" cy="1860937"/>
            <a:chOff x="0" y="0"/>
            <a:chExt cx="2481250" cy="2481250"/>
          </a:xfrm>
        </p:grpSpPr>
        <p:sp>
          <p:nvSpPr>
            <p:cNvPr id="17" name="Freeform 17" descr="Logotipo  Descrição gerada automaticamente"/>
            <p:cNvSpPr/>
            <p:nvPr/>
          </p:nvSpPr>
          <p:spPr>
            <a:xfrm>
              <a:off x="0" y="0"/>
              <a:ext cx="2481199" cy="2481199"/>
            </a:xfrm>
            <a:custGeom>
              <a:avLst/>
              <a:gdLst/>
              <a:ahLst/>
              <a:cxnLst/>
              <a:rect l="l" t="t" r="r" b="b"/>
              <a:pathLst>
                <a:path w="2481199" h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2" b="-2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148599" y="2518015"/>
            <a:ext cx="4146219" cy="3278079"/>
            <a:chOff x="0" y="0"/>
            <a:chExt cx="5528292" cy="4370771"/>
          </a:xfrm>
        </p:grpSpPr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7"/>
            <a:srcRect l="2500" t="32588" r="3775" b="33232"/>
            <a:stretch>
              <a:fillRect/>
            </a:stretch>
          </p:blipFill>
          <p:spPr>
            <a:xfrm>
              <a:off x="0" y="0"/>
              <a:ext cx="5528292" cy="4370771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10865102" y="2518015"/>
            <a:ext cx="4415538" cy="3278079"/>
            <a:chOff x="0" y="0"/>
            <a:chExt cx="5887384" cy="4370771"/>
          </a:xfrm>
        </p:grpSpPr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8"/>
            <a:srcRect t="32878" b="32878"/>
            <a:stretch>
              <a:fillRect/>
            </a:stretch>
          </p:blipFill>
          <p:spPr>
            <a:xfrm>
              <a:off x="0" y="0"/>
              <a:ext cx="5887384" cy="4370771"/>
            </a:xfrm>
            <a:prstGeom prst="rect">
              <a:avLst/>
            </a:prstGeom>
          </p:spPr>
        </p:pic>
      </p:grpSp>
      <p:grpSp>
        <p:nvGrpSpPr>
          <p:cNvPr id="22" name="Group 22"/>
          <p:cNvGrpSpPr/>
          <p:nvPr/>
        </p:nvGrpSpPr>
        <p:grpSpPr>
          <a:xfrm>
            <a:off x="1663901" y="6301211"/>
            <a:ext cx="4146219" cy="3278079"/>
            <a:chOff x="0" y="0"/>
            <a:chExt cx="5528292" cy="4370771"/>
          </a:xfrm>
        </p:grpSpPr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9"/>
            <a:srcRect t="26380" b="26380"/>
            <a:stretch>
              <a:fillRect/>
            </a:stretch>
          </p:blipFill>
          <p:spPr>
            <a:xfrm>
              <a:off x="0" y="0"/>
              <a:ext cx="5528292" cy="4370771"/>
            </a:xfrm>
            <a:prstGeom prst="rect">
              <a:avLst/>
            </a:prstGeom>
          </p:spPr>
        </p:pic>
      </p:grpSp>
      <p:grpSp>
        <p:nvGrpSpPr>
          <p:cNvPr id="24" name="Group 24"/>
          <p:cNvGrpSpPr/>
          <p:nvPr/>
        </p:nvGrpSpPr>
        <p:grpSpPr>
          <a:xfrm>
            <a:off x="6292120" y="6301211"/>
            <a:ext cx="4146219" cy="3278079"/>
            <a:chOff x="0" y="0"/>
            <a:chExt cx="5528292" cy="4370771"/>
          </a:xfrm>
        </p:grpSpPr>
        <p:pic>
          <p:nvPicPr>
            <p:cNvPr id="25" name="Picture 25"/>
            <p:cNvPicPr>
              <a:picLocks noChangeAspect="1"/>
            </p:cNvPicPr>
            <p:nvPr/>
          </p:nvPicPr>
          <p:blipFill>
            <a:blip r:embed="rId10"/>
            <a:srcRect t="20445" b="43087"/>
            <a:stretch>
              <a:fillRect/>
            </a:stretch>
          </p:blipFill>
          <p:spPr>
            <a:xfrm>
              <a:off x="0" y="0"/>
              <a:ext cx="5528292" cy="4370771"/>
            </a:xfrm>
            <a:prstGeom prst="rect">
              <a:avLst/>
            </a:prstGeom>
          </p:spPr>
        </p:pic>
      </p:grpSp>
      <p:grpSp>
        <p:nvGrpSpPr>
          <p:cNvPr id="26" name="Group 26"/>
          <p:cNvGrpSpPr/>
          <p:nvPr/>
        </p:nvGrpSpPr>
        <p:grpSpPr>
          <a:xfrm>
            <a:off x="10924113" y="6262819"/>
            <a:ext cx="4415538" cy="3278079"/>
            <a:chOff x="0" y="0"/>
            <a:chExt cx="5887384" cy="4370771"/>
          </a:xfrm>
        </p:grpSpPr>
        <p:pic>
          <p:nvPicPr>
            <p:cNvPr id="27" name="Picture 27"/>
            <p:cNvPicPr>
              <a:picLocks noChangeAspect="1"/>
            </p:cNvPicPr>
            <p:nvPr/>
          </p:nvPicPr>
          <p:blipFill>
            <a:blip r:embed="rId11"/>
            <a:srcRect t="48565" b="9674"/>
            <a:stretch>
              <a:fillRect/>
            </a:stretch>
          </p:blipFill>
          <p:spPr>
            <a:xfrm>
              <a:off x="0" y="0"/>
              <a:ext cx="5887384" cy="4370771"/>
            </a:xfrm>
            <a:prstGeom prst="rect">
              <a:avLst/>
            </a:prstGeom>
          </p:spPr>
        </p:pic>
      </p:grpSp>
      <p:sp>
        <p:nvSpPr>
          <p:cNvPr id="28" name="TextBox 28"/>
          <p:cNvSpPr txBox="1"/>
          <p:nvPr/>
        </p:nvSpPr>
        <p:spPr>
          <a:xfrm>
            <a:off x="1796834" y="130788"/>
            <a:ext cx="8990571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 Digital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3429D-5FC8-E3D2-3D72-9B7F45B87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718D6CB-8B16-C146-8D84-789E55F55EBD}"/>
              </a:ext>
            </a:extLst>
          </p:cNvPr>
          <p:cNvGrpSpPr/>
          <p:nvPr/>
        </p:nvGrpSpPr>
        <p:grpSpPr>
          <a:xfrm>
            <a:off x="0" y="0"/>
            <a:ext cx="18288000" cy="10290238"/>
            <a:chOff x="0" y="0"/>
            <a:chExt cx="24384000" cy="137203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91E5E13-4388-4C3B-A14C-3743A9BEB633}"/>
                </a:ext>
              </a:extLst>
            </p:cNvPr>
            <p:cNvSpPr/>
            <p:nvPr/>
          </p:nvSpPr>
          <p:spPr>
            <a:xfrm>
              <a:off x="0" y="0"/>
              <a:ext cx="24384000" cy="13720318"/>
            </a:xfrm>
            <a:custGeom>
              <a:avLst/>
              <a:gdLst/>
              <a:ahLst/>
              <a:cxnLst/>
              <a:rect l="l" t="t" r="r" b="b"/>
              <a:pathLst>
                <a:path w="24384000" h="13720318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B221B644-291E-A242-A00A-0462876304C3}"/>
              </a:ext>
            </a:extLst>
          </p:cNvPr>
          <p:cNvGrpSpPr/>
          <p:nvPr/>
        </p:nvGrpSpPr>
        <p:grpSpPr>
          <a:xfrm>
            <a:off x="750418" y="1254029"/>
            <a:ext cx="14942582" cy="1130949"/>
            <a:chOff x="0" y="0"/>
            <a:chExt cx="19923442" cy="15079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020CB9F-7AC7-3812-5185-7AA530E595F4}"/>
                </a:ext>
              </a:extLst>
            </p:cNvPr>
            <p:cNvSpPr/>
            <p:nvPr/>
          </p:nvSpPr>
          <p:spPr>
            <a:xfrm>
              <a:off x="0" y="0"/>
              <a:ext cx="19923438" cy="1507929"/>
            </a:xfrm>
            <a:custGeom>
              <a:avLst/>
              <a:gdLst/>
              <a:ahLst/>
              <a:cxnLst/>
              <a:rect l="l" t="t" r="r" b="b"/>
              <a:pathLst>
                <a:path w="19923438" h="1507929">
                  <a:moveTo>
                    <a:pt x="0" y="0"/>
                  </a:moveTo>
                  <a:lnTo>
                    <a:pt x="19923438" y="0"/>
                  </a:lnTo>
                  <a:lnTo>
                    <a:pt x="19923438" y="1507929"/>
                  </a:lnTo>
                  <a:lnTo>
                    <a:pt x="0" y="1507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44" b="-20744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F096E7F-C6E1-AC53-EA2C-3B735D837123}"/>
                </a:ext>
              </a:extLst>
            </p:cNvPr>
            <p:cNvSpPr txBox="1"/>
            <p:nvPr/>
          </p:nvSpPr>
          <p:spPr>
            <a:xfrm>
              <a:off x="0" y="-19050"/>
              <a:ext cx="19923442" cy="152698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759"/>
                </a:lnSpc>
              </a:pPr>
              <a:r>
                <a:rPr lang="en-US" sz="4800" b="1" dirty="0">
                  <a:solidFill>
                    <a:srgbClr val="3345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 QUE É O PROTEGIX</a:t>
              </a: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07271F7F-510B-6947-5073-8A4BA519C564}"/>
              </a:ext>
            </a:extLst>
          </p:cNvPr>
          <p:cNvGrpSpPr/>
          <p:nvPr/>
        </p:nvGrpSpPr>
        <p:grpSpPr>
          <a:xfrm>
            <a:off x="15850924" y="0"/>
            <a:ext cx="2437076" cy="10287000"/>
            <a:chOff x="0" y="0"/>
            <a:chExt cx="3249435" cy="137160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8DD5A01-5CEA-EE6A-5A48-897A29B9789E}"/>
                </a:ext>
              </a:extLst>
            </p:cNvPr>
            <p:cNvSpPr/>
            <p:nvPr/>
          </p:nvSpPr>
          <p:spPr>
            <a:xfrm>
              <a:off x="0" y="0"/>
              <a:ext cx="3249422" cy="13716000"/>
            </a:xfrm>
            <a:custGeom>
              <a:avLst/>
              <a:gdLst/>
              <a:ahLst/>
              <a:cxnLst/>
              <a:rect l="l" t="t" r="r" b="b"/>
              <a:pathLst>
                <a:path w="3249422" h="13716000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2817" r="-647509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2426B9B-D1CE-AEBD-650B-C1C6308C517F}"/>
              </a:ext>
            </a:extLst>
          </p:cNvPr>
          <p:cNvGrpSpPr/>
          <p:nvPr/>
        </p:nvGrpSpPr>
        <p:grpSpPr>
          <a:xfrm>
            <a:off x="17145000" y="9534525"/>
            <a:ext cx="781812" cy="547688"/>
            <a:chOff x="0" y="0"/>
            <a:chExt cx="1042416" cy="73025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14AB655-7BAC-6DE2-9695-FA44C65A5905}"/>
                </a:ext>
              </a:extLst>
            </p:cNvPr>
            <p:cNvSpPr/>
            <p:nvPr/>
          </p:nvSpPr>
          <p:spPr>
            <a:xfrm>
              <a:off x="0" y="0"/>
              <a:ext cx="1042414" cy="730250"/>
            </a:xfrm>
            <a:custGeom>
              <a:avLst/>
              <a:gdLst/>
              <a:ahLst/>
              <a:cxnLst/>
              <a:rect l="l" t="t" r="r" b="b"/>
              <a:pathLst>
                <a:path w="1042414" h="730250">
                  <a:moveTo>
                    <a:pt x="0" y="0"/>
                  </a:moveTo>
                  <a:lnTo>
                    <a:pt x="1042414" y="0"/>
                  </a:lnTo>
                  <a:lnTo>
                    <a:pt x="104241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81" r="-39881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15B7A77-3BA2-1513-8EA5-A20CA70D4679}"/>
                </a:ext>
              </a:extLst>
            </p:cNvPr>
            <p:cNvSpPr txBox="1"/>
            <p:nvPr/>
          </p:nvSpPr>
          <p:spPr>
            <a:xfrm>
              <a:off x="0" y="-19050"/>
              <a:ext cx="1042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43141"/>
                  </a:solidFill>
                  <a:latin typeface="Play"/>
                  <a:ea typeface="Play"/>
                  <a:cs typeface="Play"/>
                  <a:sym typeface="Play"/>
                </a:rPr>
                <a:t>‹#›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AB1ABB62-7FF4-7408-B0FC-F2768A56C54D}"/>
              </a:ext>
            </a:extLst>
          </p:cNvPr>
          <p:cNvSpPr txBox="1"/>
          <p:nvPr/>
        </p:nvSpPr>
        <p:spPr>
          <a:xfrm rot="5400000">
            <a:off x="-4289265" y="5882111"/>
            <a:ext cx="8963416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Pesquisa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5A9F4C0A-5055-1990-6A04-F23E5FE6085C}"/>
              </a:ext>
            </a:extLst>
          </p:cNvPr>
          <p:cNvSpPr/>
          <p:nvPr/>
        </p:nvSpPr>
        <p:spPr>
          <a:xfrm rot="8250539">
            <a:off x="34528" y="973741"/>
            <a:ext cx="1875663" cy="0"/>
          </a:xfrm>
          <a:prstGeom prst="line">
            <a:avLst/>
          </a:prstGeom>
          <a:ln w="19050" cap="rnd">
            <a:solidFill>
              <a:srgbClr val="3345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0D2715E9-FB12-8BEC-F6B8-3F99BB0B1E95}"/>
              </a:ext>
            </a:extLst>
          </p:cNvPr>
          <p:cNvGrpSpPr/>
          <p:nvPr/>
        </p:nvGrpSpPr>
        <p:grpSpPr>
          <a:xfrm>
            <a:off x="-155534" y="8870823"/>
            <a:ext cx="1860937" cy="1860937"/>
            <a:chOff x="0" y="0"/>
            <a:chExt cx="2481250" cy="2481250"/>
          </a:xfrm>
        </p:grpSpPr>
        <p:sp>
          <p:nvSpPr>
            <p:cNvPr id="15" name="Freeform 15" descr="Logotipo  Descrição gerada automaticamente">
              <a:extLst>
                <a:ext uri="{FF2B5EF4-FFF2-40B4-BE49-F238E27FC236}">
                  <a16:creationId xmlns:a16="http://schemas.microsoft.com/office/drawing/2014/main" id="{971D0160-9B86-BA69-F884-8F8C4C3231F7}"/>
                </a:ext>
              </a:extLst>
            </p:cNvPr>
            <p:cNvSpPr/>
            <p:nvPr/>
          </p:nvSpPr>
          <p:spPr>
            <a:xfrm>
              <a:off x="0" y="0"/>
              <a:ext cx="2481199" cy="2481199"/>
            </a:xfrm>
            <a:custGeom>
              <a:avLst/>
              <a:gdLst/>
              <a:ahLst/>
              <a:cxnLst/>
              <a:rect l="l" t="t" r="r" b="b"/>
              <a:pathLst>
                <a:path w="2481199" h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" b="-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687BA400-6F2B-A47F-914D-BBE62D6E1620}"/>
              </a:ext>
            </a:extLst>
          </p:cNvPr>
          <p:cNvSpPr txBox="1"/>
          <p:nvPr/>
        </p:nvSpPr>
        <p:spPr>
          <a:xfrm>
            <a:off x="1796834" y="130788"/>
            <a:ext cx="8990571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 Digital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224FFA8-C2B5-F954-3C95-C6CC7AE4CCE7}"/>
              </a:ext>
            </a:extLst>
          </p:cNvPr>
          <p:cNvSpPr txBox="1"/>
          <p:nvPr/>
        </p:nvSpPr>
        <p:spPr>
          <a:xfrm>
            <a:off x="1796834" y="2924175"/>
            <a:ext cx="13896163" cy="61179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Plataforma educacional gratuita que transforma dados reais de pesquisa em aprendizado sobre segurança digital.</a:t>
            </a:r>
          </a:p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Desenvolvida por alunos de Ciência da Computação como solução prática para um problema real observado na pesquisa.</a:t>
            </a:r>
          </a:p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Une três pilares: visualização de dados, educação interativa e gamificação (quiz com ranking).</a:t>
            </a:r>
          </a:p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Proposta: traduzir a lacuna entre conhecimento e prática em uma experiencia que ensina e agrega.</a:t>
            </a:r>
            <a:endParaRPr lang="en-US" sz="398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76E39593-480D-65BD-39D1-9D0B61A0FD8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005" y="73365"/>
            <a:ext cx="3464490" cy="346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364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95C72-19C2-CCE3-EC70-91AF85D46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EFFB46D-68D5-7A70-4B42-CE37EEC6B896}"/>
              </a:ext>
            </a:extLst>
          </p:cNvPr>
          <p:cNvGrpSpPr/>
          <p:nvPr/>
        </p:nvGrpSpPr>
        <p:grpSpPr>
          <a:xfrm>
            <a:off x="0" y="0"/>
            <a:ext cx="18288000" cy="10290238"/>
            <a:chOff x="0" y="0"/>
            <a:chExt cx="24384000" cy="137203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6D990DA-9CA1-3DAE-C30D-FB8F8AE9633E}"/>
                </a:ext>
              </a:extLst>
            </p:cNvPr>
            <p:cNvSpPr/>
            <p:nvPr/>
          </p:nvSpPr>
          <p:spPr>
            <a:xfrm>
              <a:off x="0" y="0"/>
              <a:ext cx="24384000" cy="13720318"/>
            </a:xfrm>
            <a:custGeom>
              <a:avLst/>
              <a:gdLst/>
              <a:ahLst/>
              <a:cxnLst/>
              <a:rect l="l" t="t" r="r" b="b"/>
              <a:pathLst>
                <a:path w="24384000" h="13720318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  <p:txBody>
            <a:bodyPr/>
            <a:lstStyle/>
            <a:p>
              <a:endParaRPr lang="pt-BR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3BBB0118-B8F0-025D-B175-4C04087EFFB8}"/>
              </a:ext>
            </a:extLst>
          </p:cNvPr>
          <p:cNvGrpSpPr/>
          <p:nvPr/>
        </p:nvGrpSpPr>
        <p:grpSpPr>
          <a:xfrm>
            <a:off x="280818" y="1051272"/>
            <a:ext cx="14942582" cy="1130949"/>
            <a:chOff x="0" y="0"/>
            <a:chExt cx="19923442" cy="15079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D64A757-7E51-E5F5-406F-74008A3D91FD}"/>
                </a:ext>
              </a:extLst>
            </p:cNvPr>
            <p:cNvSpPr/>
            <p:nvPr/>
          </p:nvSpPr>
          <p:spPr>
            <a:xfrm>
              <a:off x="0" y="0"/>
              <a:ext cx="19923438" cy="1507929"/>
            </a:xfrm>
            <a:custGeom>
              <a:avLst/>
              <a:gdLst/>
              <a:ahLst/>
              <a:cxnLst/>
              <a:rect l="l" t="t" r="r" b="b"/>
              <a:pathLst>
                <a:path w="19923438" h="1507929">
                  <a:moveTo>
                    <a:pt x="0" y="0"/>
                  </a:moveTo>
                  <a:lnTo>
                    <a:pt x="19923438" y="0"/>
                  </a:lnTo>
                  <a:lnTo>
                    <a:pt x="19923438" y="1507929"/>
                  </a:lnTo>
                  <a:lnTo>
                    <a:pt x="0" y="1507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44" b="-207445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2D63743-5525-26D4-0B86-99B7ADF55125}"/>
                </a:ext>
              </a:extLst>
            </p:cNvPr>
            <p:cNvSpPr txBox="1"/>
            <p:nvPr/>
          </p:nvSpPr>
          <p:spPr>
            <a:xfrm>
              <a:off x="0" y="-19050"/>
              <a:ext cx="19923442" cy="152698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759"/>
                </a:lnSpc>
              </a:pPr>
              <a:r>
                <a:rPr lang="en-US" sz="4800" b="1" dirty="0">
                  <a:solidFill>
                    <a:srgbClr val="3345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TECNOLOGIAS UTILIZADAS</a:t>
              </a: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A4E65DD8-3942-9C08-CA4F-AD7753A2C362}"/>
              </a:ext>
            </a:extLst>
          </p:cNvPr>
          <p:cNvGrpSpPr/>
          <p:nvPr/>
        </p:nvGrpSpPr>
        <p:grpSpPr>
          <a:xfrm>
            <a:off x="15850924" y="0"/>
            <a:ext cx="2437076" cy="10287000"/>
            <a:chOff x="0" y="0"/>
            <a:chExt cx="3249435" cy="137160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D9EC8BF-90A1-08EC-4720-9E544C6910DC}"/>
                </a:ext>
              </a:extLst>
            </p:cNvPr>
            <p:cNvSpPr/>
            <p:nvPr/>
          </p:nvSpPr>
          <p:spPr>
            <a:xfrm>
              <a:off x="0" y="0"/>
              <a:ext cx="3249422" cy="13716000"/>
            </a:xfrm>
            <a:custGeom>
              <a:avLst/>
              <a:gdLst/>
              <a:ahLst/>
              <a:cxnLst/>
              <a:rect l="l" t="t" r="r" b="b"/>
              <a:pathLst>
                <a:path w="3249422" h="13716000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2817" r="-647509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76BC113-43AA-AE72-DA37-0505CCA48315}"/>
              </a:ext>
            </a:extLst>
          </p:cNvPr>
          <p:cNvGrpSpPr/>
          <p:nvPr/>
        </p:nvGrpSpPr>
        <p:grpSpPr>
          <a:xfrm>
            <a:off x="17145000" y="9534525"/>
            <a:ext cx="781812" cy="547688"/>
            <a:chOff x="0" y="0"/>
            <a:chExt cx="1042416" cy="73025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8AB9F93-CF37-3356-1D56-A6E818087BD1}"/>
                </a:ext>
              </a:extLst>
            </p:cNvPr>
            <p:cNvSpPr/>
            <p:nvPr/>
          </p:nvSpPr>
          <p:spPr>
            <a:xfrm>
              <a:off x="0" y="0"/>
              <a:ext cx="1042414" cy="730250"/>
            </a:xfrm>
            <a:custGeom>
              <a:avLst/>
              <a:gdLst/>
              <a:ahLst/>
              <a:cxnLst/>
              <a:rect l="l" t="t" r="r" b="b"/>
              <a:pathLst>
                <a:path w="1042414" h="730250">
                  <a:moveTo>
                    <a:pt x="0" y="0"/>
                  </a:moveTo>
                  <a:lnTo>
                    <a:pt x="1042414" y="0"/>
                  </a:lnTo>
                  <a:lnTo>
                    <a:pt x="104241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81" r="-39881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34DEEB4-BE94-4062-1385-D37E5610FA9D}"/>
                </a:ext>
              </a:extLst>
            </p:cNvPr>
            <p:cNvSpPr txBox="1"/>
            <p:nvPr/>
          </p:nvSpPr>
          <p:spPr>
            <a:xfrm>
              <a:off x="0" y="-19050"/>
              <a:ext cx="1042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520"/>
                </a:lnSpc>
              </a:pPr>
              <a:r>
                <a:rPr lang="en-US" sz="2100" dirty="0">
                  <a:solidFill>
                    <a:srgbClr val="243141"/>
                  </a:solidFill>
                  <a:latin typeface="Play"/>
                  <a:ea typeface="Play"/>
                  <a:cs typeface="Play"/>
                  <a:sym typeface="Play"/>
                </a:rPr>
                <a:t>‹#›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484B4D4A-3721-7746-2F3E-2D5E93E972BB}"/>
              </a:ext>
            </a:extLst>
          </p:cNvPr>
          <p:cNvSpPr txBox="1"/>
          <p:nvPr/>
        </p:nvSpPr>
        <p:spPr>
          <a:xfrm rot="5400000">
            <a:off x="-4289265" y="5882111"/>
            <a:ext cx="8963416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Pesquisa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A84F355-1E24-EB16-64C4-20AE91F959C2}"/>
              </a:ext>
            </a:extLst>
          </p:cNvPr>
          <p:cNvSpPr txBox="1"/>
          <p:nvPr/>
        </p:nvSpPr>
        <p:spPr>
          <a:xfrm>
            <a:off x="1796834" y="130788"/>
            <a:ext cx="8990571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 Digital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8CEB7B0B-BA42-370B-9AA8-6ED1D715CC3D}"/>
              </a:ext>
            </a:extLst>
          </p:cNvPr>
          <p:cNvSpPr/>
          <p:nvPr/>
        </p:nvSpPr>
        <p:spPr>
          <a:xfrm rot="8250539">
            <a:off x="34528" y="973741"/>
            <a:ext cx="1875663" cy="0"/>
          </a:xfrm>
          <a:prstGeom prst="line">
            <a:avLst/>
          </a:prstGeom>
          <a:ln w="19050" cap="rnd">
            <a:solidFill>
              <a:srgbClr val="3345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9E265D4E-77D6-D338-E021-E45E083DF172}"/>
              </a:ext>
            </a:extLst>
          </p:cNvPr>
          <p:cNvGrpSpPr/>
          <p:nvPr/>
        </p:nvGrpSpPr>
        <p:grpSpPr>
          <a:xfrm>
            <a:off x="-155534" y="8870823"/>
            <a:ext cx="1860937" cy="1860937"/>
            <a:chOff x="0" y="0"/>
            <a:chExt cx="2481250" cy="2481250"/>
          </a:xfrm>
        </p:grpSpPr>
        <p:sp>
          <p:nvSpPr>
            <p:cNvPr id="16" name="Freeform 16" descr="Logotipo  Descrição gerada automaticamente">
              <a:extLst>
                <a:ext uri="{FF2B5EF4-FFF2-40B4-BE49-F238E27FC236}">
                  <a16:creationId xmlns:a16="http://schemas.microsoft.com/office/drawing/2014/main" id="{88FBBAF7-4AE7-21DF-0355-8BD5601F583C}"/>
                </a:ext>
              </a:extLst>
            </p:cNvPr>
            <p:cNvSpPr/>
            <p:nvPr/>
          </p:nvSpPr>
          <p:spPr>
            <a:xfrm>
              <a:off x="0" y="0"/>
              <a:ext cx="2481199" cy="2481199"/>
            </a:xfrm>
            <a:custGeom>
              <a:avLst/>
              <a:gdLst/>
              <a:ahLst/>
              <a:cxnLst/>
              <a:rect l="l" t="t" r="r" b="b"/>
              <a:pathLst>
                <a:path w="2481199" h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" b="-2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C31A47EA-1503-B9E7-968D-F3F142DA219C}"/>
              </a:ext>
            </a:extLst>
          </p:cNvPr>
          <p:cNvSpPr txBox="1"/>
          <p:nvPr/>
        </p:nvSpPr>
        <p:spPr>
          <a:xfrm>
            <a:off x="1950826" y="2862476"/>
            <a:ext cx="4146610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13"/>
              </a:lnSpc>
            </a:pPr>
            <a:r>
              <a:rPr lang="pt-BR" sz="3760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r>
              <a:rPr lang="pt-BR" sz="376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lang="pt-BR" sz="376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1500" indent="-571500">
              <a:lnSpc>
                <a:spcPts val="4513"/>
              </a:lnSpc>
              <a:buFont typeface="Arial" panose="020B0604020202020204" pitchFamily="34" charset="0"/>
              <a:buChar char="•"/>
            </a:pPr>
            <a:r>
              <a:rPr lang="pt-BR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571500" indent="-571500">
              <a:lnSpc>
                <a:spcPts val="4513"/>
              </a:lnSpc>
              <a:buFont typeface="Arial" panose="020B0604020202020204" pitchFamily="34" charset="0"/>
              <a:buChar char="•"/>
            </a:pPr>
            <a:r>
              <a:rPr lang="pt-BR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571500" indent="-571500">
              <a:lnSpc>
                <a:spcPts val="4513"/>
              </a:lnSpc>
              <a:buFont typeface="Arial" panose="020B0604020202020204" pitchFamily="34" charset="0"/>
              <a:buChar char="•"/>
            </a:pP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Vite.</a:t>
            </a:r>
          </a:p>
          <a:p>
            <a:pPr marL="571500" indent="-571500">
              <a:lnSpc>
                <a:spcPts val="4513"/>
              </a:lnSpc>
              <a:buFont typeface="Arial" panose="020B0604020202020204" pitchFamily="34" charset="0"/>
              <a:buChar char="•"/>
            </a:pP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Material UI.</a:t>
            </a:r>
          </a:p>
          <a:p>
            <a:pPr marL="571500" indent="-571500">
              <a:lnSpc>
                <a:spcPts val="4513"/>
              </a:lnSpc>
              <a:buFont typeface="Arial" panose="020B0604020202020204" pitchFamily="34" charset="0"/>
              <a:buChar char="•"/>
            </a:pPr>
            <a:r>
              <a:rPr lang="pt-BR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Sass</a:t>
            </a: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/SCSS.</a:t>
            </a:r>
            <a:endParaRPr lang="en-US" sz="376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679BF-0D1B-345A-855D-E464DD169F00}"/>
              </a:ext>
            </a:extLst>
          </p:cNvPr>
          <p:cNvSpPr txBox="1"/>
          <p:nvPr/>
        </p:nvSpPr>
        <p:spPr>
          <a:xfrm>
            <a:off x="7155287" y="2862476"/>
            <a:ext cx="8065652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13"/>
              </a:lnSpc>
            </a:pPr>
            <a:r>
              <a:rPr lang="pt-BR" sz="376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Dados e Serviços:</a:t>
            </a:r>
            <a:endParaRPr lang="pt-BR" sz="376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1500" indent="-571500">
              <a:lnSpc>
                <a:spcPts val="4513"/>
              </a:lnSpc>
              <a:buFont typeface="Arial" panose="020B0604020202020204" pitchFamily="34" charset="0"/>
              <a:buChar char="•"/>
            </a:pPr>
            <a:r>
              <a:rPr lang="pt-BR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Firebase</a:t>
            </a: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Firestore</a:t>
            </a: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571500" indent="-571500">
              <a:lnSpc>
                <a:spcPts val="4513"/>
              </a:lnSpc>
              <a:buFont typeface="Arial" panose="020B0604020202020204" pitchFamily="34" charset="0"/>
              <a:buChar char="•"/>
            </a:pP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</a:t>
            </a:r>
            <a:r>
              <a:rPr lang="pt-BR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Forms</a:t>
            </a: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Google </a:t>
            </a:r>
            <a:r>
              <a:rPr lang="pt-BR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Sheets</a:t>
            </a: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571500" indent="-571500">
              <a:lnSpc>
                <a:spcPts val="4513"/>
              </a:lnSpc>
              <a:buFont typeface="Arial" panose="020B0604020202020204" pitchFamily="34" charset="0"/>
              <a:buChar char="•"/>
            </a:pP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Gemini para insights com IA.</a:t>
            </a:r>
          </a:p>
          <a:p>
            <a:pPr marL="571500" indent="-571500">
              <a:lnSpc>
                <a:spcPts val="4513"/>
              </a:lnSpc>
              <a:buFont typeface="Arial" panose="020B0604020202020204" pitchFamily="34" charset="0"/>
              <a:buChar char="•"/>
            </a:pPr>
            <a:r>
              <a:rPr lang="pt-BR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Vercel</a:t>
            </a: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publicação.</a:t>
            </a:r>
            <a:endParaRPr lang="en-US" sz="376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Imagem 20" descr="Js, react js, logo, react, react native icon - Free download">
            <a:extLst>
              <a:ext uri="{FF2B5EF4-FFF2-40B4-BE49-F238E27FC236}">
                <a16:creationId xmlns:a16="http://schemas.microsoft.com/office/drawing/2014/main" id="{872FE7E5-7475-7B11-8457-A75D53884C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8453" y="6937147"/>
            <a:ext cx="1876463" cy="1876463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BC278C95-90B1-7376-3DA1-E3BA38422BB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450" y="6899047"/>
            <a:ext cx="1876463" cy="1876463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7CABB8D4-3FA9-69EA-5A9E-2C961E18CC7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029" y="6710937"/>
            <a:ext cx="2252682" cy="2252682"/>
          </a:xfrm>
          <a:prstGeom prst="rect">
            <a:avLst/>
          </a:prstGeom>
        </p:spPr>
      </p:pic>
      <p:pic>
        <p:nvPicPr>
          <p:cNvPr id="32" name="Imagem 31" descr="Firebase Brand Guidelines">
            <a:extLst>
              <a:ext uri="{FF2B5EF4-FFF2-40B4-BE49-F238E27FC236}">
                <a16:creationId xmlns:a16="http://schemas.microsoft.com/office/drawing/2014/main" id="{BFD4853D-7BAB-1063-E151-79FAB9DF3D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5368" y="6876989"/>
            <a:ext cx="1874034" cy="1874034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1C37CF90-F8F7-4B20-3C51-D45CD1C2C24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2410" y="6937148"/>
            <a:ext cx="2496790" cy="1874034"/>
          </a:xfrm>
          <a:prstGeom prst="rect">
            <a:avLst/>
          </a:prstGeom>
        </p:spPr>
      </p:pic>
      <p:pic>
        <p:nvPicPr>
          <p:cNvPr id="37" name="Imagem 36" descr="Google Gemini Logo, symbol, meaning, history, PNG, brand">
            <a:extLst>
              <a:ext uri="{FF2B5EF4-FFF2-40B4-BE49-F238E27FC236}">
                <a16:creationId xmlns:a16="http://schemas.microsoft.com/office/drawing/2014/main" id="{62A28A13-1414-E907-B61D-2F728B53DD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42768" y="6983073"/>
            <a:ext cx="3211510" cy="180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42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697C-4E47-8AC3-7185-724CA35DA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870C0A7-46E7-871C-80DD-B32A476B22CB}"/>
              </a:ext>
            </a:extLst>
          </p:cNvPr>
          <p:cNvGrpSpPr/>
          <p:nvPr/>
        </p:nvGrpSpPr>
        <p:grpSpPr>
          <a:xfrm>
            <a:off x="0" y="0"/>
            <a:ext cx="18288000" cy="10290238"/>
            <a:chOff x="0" y="0"/>
            <a:chExt cx="24384000" cy="137203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FCFC835-6FCD-F188-AF8E-3C584B5B12AD}"/>
                </a:ext>
              </a:extLst>
            </p:cNvPr>
            <p:cNvSpPr/>
            <p:nvPr/>
          </p:nvSpPr>
          <p:spPr>
            <a:xfrm>
              <a:off x="0" y="0"/>
              <a:ext cx="24384000" cy="13720318"/>
            </a:xfrm>
            <a:custGeom>
              <a:avLst/>
              <a:gdLst/>
              <a:ahLst/>
              <a:cxnLst/>
              <a:rect l="l" t="t" r="r" b="b"/>
              <a:pathLst>
                <a:path w="24384000" h="13720318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AE967EB-029B-BDBC-9400-4FB215395B40}"/>
              </a:ext>
            </a:extLst>
          </p:cNvPr>
          <p:cNvGrpSpPr/>
          <p:nvPr/>
        </p:nvGrpSpPr>
        <p:grpSpPr>
          <a:xfrm>
            <a:off x="750418" y="935568"/>
            <a:ext cx="14942582" cy="1449408"/>
            <a:chOff x="0" y="-424615"/>
            <a:chExt cx="19923442" cy="193254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F497477-8866-286B-0D51-E44861082A22}"/>
                </a:ext>
              </a:extLst>
            </p:cNvPr>
            <p:cNvSpPr/>
            <p:nvPr/>
          </p:nvSpPr>
          <p:spPr>
            <a:xfrm>
              <a:off x="0" y="0"/>
              <a:ext cx="19923438" cy="1507929"/>
            </a:xfrm>
            <a:custGeom>
              <a:avLst/>
              <a:gdLst/>
              <a:ahLst/>
              <a:cxnLst/>
              <a:rect l="l" t="t" r="r" b="b"/>
              <a:pathLst>
                <a:path w="19923438" h="1507929">
                  <a:moveTo>
                    <a:pt x="0" y="0"/>
                  </a:moveTo>
                  <a:lnTo>
                    <a:pt x="19923438" y="0"/>
                  </a:lnTo>
                  <a:lnTo>
                    <a:pt x="19923438" y="1507929"/>
                  </a:lnTo>
                  <a:lnTo>
                    <a:pt x="0" y="1507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44" b="-20744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04ACE55-6F12-C538-01A7-0D8C4F74B3D4}"/>
                </a:ext>
              </a:extLst>
            </p:cNvPr>
            <p:cNvSpPr txBox="1"/>
            <p:nvPr/>
          </p:nvSpPr>
          <p:spPr>
            <a:xfrm>
              <a:off x="0" y="-424615"/>
              <a:ext cx="19923442" cy="152698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759"/>
                </a:lnSpc>
              </a:pPr>
              <a:r>
                <a:rPr lang="en-US" sz="4800" b="1" dirty="0">
                  <a:solidFill>
                    <a:srgbClr val="3345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FUNCIONALIDADES DA PLATAFORMA</a:t>
              </a: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23AF24B4-E771-64FE-16E0-27AA129E8BCF}"/>
              </a:ext>
            </a:extLst>
          </p:cNvPr>
          <p:cNvGrpSpPr/>
          <p:nvPr/>
        </p:nvGrpSpPr>
        <p:grpSpPr>
          <a:xfrm>
            <a:off x="15850924" y="0"/>
            <a:ext cx="2437076" cy="10287000"/>
            <a:chOff x="0" y="0"/>
            <a:chExt cx="3249435" cy="137160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BBC80AB-F501-88B3-0A5B-E3B807041A85}"/>
                </a:ext>
              </a:extLst>
            </p:cNvPr>
            <p:cNvSpPr/>
            <p:nvPr/>
          </p:nvSpPr>
          <p:spPr>
            <a:xfrm>
              <a:off x="0" y="0"/>
              <a:ext cx="3249422" cy="13716000"/>
            </a:xfrm>
            <a:custGeom>
              <a:avLst/>
              <a:gdLst/>
              <a:ahLst/>
              <a:cxnLst/>
              <a:rect l="l" t="t" r="r" b="b"/>
              <a:pathLst>
                <a:path w="3249422" h="13716000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2817" r="-647509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7B7109D-4D84-44B2-C4E2-76E3DF759155}"/>
              </a:ext>
            </a:extLst>
          </p:cNvPr>
          <p:cNvGrpSpPr/>
          <p:nvPr/>
        </p:nvGrpSpPr>
        <p:grpSpPr>
          <a:xfrm>
            <a:off x="17145000" y="9534525"/>
            <a:ext cx="781812" cy="547688"/>
            <a:chOff x="0" y="0"/>
            <a:chExt cx="1042416" cy="73025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D4E3866-9E43-548A-EEB4-3919AD0A5B78}"/>
                </a:ext>
              </a:extLst>
            </p:cNvPr>
            <p:cNvSpPr/>
            <p:nvPr/>
          </p:nvSpPr>
          <p:spPr>
            <a:xfrm>
              <a:off x="0" y="0"/>
              <a:ext cx="1042414" cy="730250"/>
            </a:xfrm>
            <a:custGeom>
              <a:avLst/>
              <a:gdLst/>
              <a:ahLst/>
              <a:cxnLst/>
              <a:rect l="l" t="t" r="r" b="b"/>
              <a:pathLst>
                <a:path w="1042414" h="730250">
                  <a:moveTo>
                    <a:pt x="0" y="0"/>
                  </a:moveTo>
                  <a:lnTo>
                    <a:pt x="1042414" y="0"/>
                  </a:lnTo>
                  <a:lnTo>
                    <a:pt x="104241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81" r="-39881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D7E6292-85EE-9408-B72C-196E536170F1}"/>
                </a:ext>
              </a:extLst>
            </p:cNvPr>
            <p:cNvSpPr txBox="1"/>
            <p:nvPr/>
          </p:nvSpPr>
          <p:spPr>
            <a:xfrm>
              <a:off x="0" y="-19050"/>
              <a:ext cx="1042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43141"/>
                  </a:solidFill>
                  <a:latin typeface="Play"/>
                  <a:ea typeface="Play"/>
                  <a:cs typeface="Play"/>
                  <a:sym typeface="Play"/>
                </a:rPr>
                <a:t>‹#›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6EFE14B2-162E-904C-3707-F4F8DD0D47B1}"/>
              </a:ext>
            </a:extLst>
          </p:cNvPr>
          <p:cNvSpPr txBox="1"/>
          <p:nvPr/>
        </p:nvSpPr>
        <p:spPr>
          <a:xfrm rot="5400000">
            <a:off x="-4289265" y="5882111"/>
            <a:ext cx="8963416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Pesquisa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B8CB4453-E1B2-651D-8B48-9C69CA935267}"/>
              </a:ext>
            </a:extLst>
          </p:cNvPr>
          <p:cNvSpPr/>
          <p:nvPr/>
        </p:nvSpPr>
        <p:spPr>
          <a:xfrm rot="8250539">
            <a:off x="34528" y="973741"/>
            <a:ext cx="1875663" cy="0"/>
          </a:xfrm>
          <a:prstGeom prst="line">
            <a:avLst/>
          </a:prstGeom>
          <a:ln w="19050" cap="rnd">
            <a:solidFill>
              <a:srgbClr val="3345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1564D06D-997C-72F2-C283-CC443176CD92}"/>
              </a:ext>
            </a:extLst>
          </p:cNvPr>
          <p:cNvGrpSpPr/>
          <p:nvPr/>
        </p:nvGrpSpPr>
        <p:grpSpPr>
          <a:xfrm>
            <a:off x="-155534" y="8870823"/>
            <a:ext cx="1860937" cy="1860937"/>
            <a:chOff x="0" y="0"/>
            <a:chExt cx="2481250" cy="2481250"/>
          </a:xfrm>
        </p:grpSpPr>
        <p:sp>
          <p:nvSpPr>
            <p:cNvPr id="15" name="Freeform 15" descr="Logotipo  Descrição gerada automaticamente">
              <a:extLst>
                <a:ext uri="{FF2B5EF4-FFF2-40B4-BE49-F238E27FC236}">
                  <a16:creationId xmlns:a16="http://schemas.microsoft.com/office/drawing/2014/main" id="{61100247-2EE7-A3EC-F3A1-C9F92EC05245}"/>
                </a:ext>
              </a:extLst>
            </p:cNvPr>
            <p:cNvSpPr/>
            <p:nvPr/>
          </p:nvSpPr>
          <p:spPr>
            <a:xfrm>
              <a:off x="0" y="0"/>
              <a:ext cx="2481199" cy="2481199"/>
            </a:xfrm>
            <a:custGeom>
              <a:avLst/>
              <a:gdLst/>
              <a:ahLst/>
              <a:cxnLst/>
              <a:rect l="l" t="t" r="r" b="b"/>
              <a:pathLst>
                <a:path w="2481199" h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" b="-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6295177C-AFCF-9419-0E93-053194A16DB9}"/>
              </a:ext>
            </a:extLst>
          </p:cNvPr>
          <p:cNvSpPr txBox="1"/>
          <p:nvPr/>
        </p:nvSpPr>
        <p:spPr>
          <a:xfrm>
            <a:off x="1796834" y="130788"/>
            <a:ext cx="8990571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 Digital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B9555E2-1B86-98BC-FFF2-354368893005}"/>
              </a:ext>
            </a:extLst>
          </p:cNvPr>
          <p:cNvSpPr txBox="1"/>
          <p:nvPr/>
        </p:nvSpPr>
        <p:spPr>
          <a:xfrm>
            <a:off x="1796834" y="2534781"/>
            <a:ext cx="13896163" cy="3040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0375" lvl="1" algn="just">
              <a:lnSpc>
                <a:spcPts val="4784"/>
              </a:lnSpc>
            </a:pPr>
            <a:r>
              <a:rPr lang="pt-BR" sz="398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 de dados:</a:t>
            </a:r>
            <a:endParaRPr lang="pt-BR" sz="398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Gráficos interativos.</a:t>
            </a:r>
          </a:p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pt-BR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Visualizacao</a:t>
            </a: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dos resultados da pesquisa.</a:t>
            </a:r>
          </a:p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Insights com </a:t>
            </a:r>
            <a:r>
              <a:rPr lang="pt-BR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inteligencia</a:t>
            </a: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artificial.</a:t>
            </a:r>
          </a:p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Analises cruzadas entre respostas.</a:t>
            </a:r>
            <a:endParaRPr lang="en-US" sz="398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BC1C7306-AAD0-2769-1E72-74CD394E4E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8544" y="5829300"/>
            <a:ext cx="7513747" cy="4001128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058578B6-3623-E19E-2951-5AE7147D78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6673" y="5829300"/>
            <a:ext cx="6717490" cy="400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11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1FB7D-7160-937D-4D15-5E682A4DA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6A40E05-59BD-A665-8D2D-80F18305DB13}"/>
              </a:ext>
            </a:extLst>
          </p:cNvPr>
          <p:cNvGrpSpPr/>
          <p:nvPr/>
        </p:nvGrpSpPr>
        <p:grpSpPr>
          <a:xfrm>
            <a:off x="0" y="0"/>
            <a:ext cx="18288000" cy="10290238"/>
            <a:chOff x="0" y="0"/>
            <a:chExt cx="24384000" cy="137203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C72DCED-D930-ABA1-9CF8-BC9F743536C8}"/>
                </a:ext>
              </a:extLst>
            </p:cNvPr>
            <p:cNvSpPr/>
            <p:nvPr/>
          </p:nvSpPr>
          <p:spPr>
            <a:xfrm>
              <a:off x="0" y="0"/>
              <a:ext cx="24384000" cy="13720318"/>
            </a:xfrm>
            <a:custGeom>
              <a:avLst/>
              <a:gdLst/>
              <a:ahLst/>
              <a:cxnLst/>
              <a:rect l="l" t="t" r="r" b="b"/>
              <a:pathLst>
                <a:path w="24384000" h="13720318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43A5BE10-D6E4-FAF2-CA7E-570862118A3E}"/>
              </a:ext>
            </a:extLst>
          </p:cNvPr>
          <p:cNvSpPr/>
          <p:nvPr/>
        </p:nvSpPr>
        <p:spPr>
          <a:xfrm>
            <a:off x="750418" y="1254029"/>
            <a:ext cx="14942579" cy="1130947"/>
          </a:xfrm>
          <a:custGeom>
            <a:avLst/>
            <a:gdLst/>
            <a:ahLst/>
            <a:cxnLst/>
            <a:rect l="l" t="t" r="r" b="b"/>
            <a:pathLst>
              <a:path w="19923438" h="1507929">
                <a:moveTo>
                  <a:pt x="0" y="0"/>
                </a:moveTo>
                <a:lnTo>
                  <a:pt x="19923438" y="0"/>
                </a:lnTo>
                <a:lnTo>
                  <a:pt x="19923438" y="1507929"/>
                </a:lnTo>
                <a:lnTo>
                  <a:pt x="0" y="1507929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207444" b="-207445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52F007B8-63BB-0ADB-FEB2-96BF18239D87}"/>
              </a:ext>
            </a:extLst>
          </p:cNvPr>
          <p:cNvGrpSpPr/>
          <p:nvPr/>
        </p:nvGrpSpPr>
        <p:grpSpPr>
          <a:xfrm>
            <a:off x="15850924" y="0"/>
            <a:ext cx="2437076" cy="10287000"/>
            <a:chOff x="0" y="0"/>
            <a:chExt cx="3249435" cy="137160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1096B7E-0822-9A95-DE65-527AADC5568C}"/>
                </a:ext>
              </a:extLst>
            </p:cNvPr>
            <p:cNvSpPr/>
            <p:nvPr/>
          </p:nvSpPr>
          <p:spPr>
            <a:xfrm>
              <a:off x="0" y="0"/>
              <a:ext cx="3249422" cy="13716000"/>
            </a:xfrm>
            <a:custGeom>
              <a:avLst/>
              <a:gdLst/>
              <a:ahLst/>
              <a:cxnLst/>
              <a:rect l="l" t="t" r="r" b="b"/>
              <a:pathLst>
                <a:path w="3249422" h="13716000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2817" r="-647509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6E2BA48-7D36-7975-A661-B4126FF6AB1D}"/>
              </a:ext>
            </a:extLst>
          </p:cNvPr>
          <p:cNvGrpSpPr/>
          <p:nvPr/>
        </p:nvGrpSpPr>
        <p:grpSpPr>
          <a:xfrm>
            <a:off x="17145000" y="9534525"/>
            <a:ext cx="781812" cy="547688"/>
            <a:chOff x="0" y="0"/>
            <a:chExt cx="1042416" cy="73025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7E46645-8C96-97E5-AFB9-6D0ED63CBF5E}"/>
                </a:ext>
              </a:extLst>
            </p:cNvPr>
            <p:cNvSpPr/>
            <p:nvPr/>
          </p:nvSpPr>
          <p:spPr>
            <a:xfrm>
              <a:off x="0" y="0"/>
              <a:ext cx="1042414" cy="730250"/>
            </a:xfrm>
            <a:custGeom>
              <a:avLst/>
              <a:gdLst/>
              <a:ahLst/>
              <a:cxnLst/>
              <a:rect l="l" t="t" r="r" b="b"/>
              <a:pathLst>
                <a:path w="1042414" h="730250">
                  <a:moveTo>
                    <a:pt x="0" y="0"/>
                  </a:moveTo>
                  <a:lnTo>
                    <a:pt x="1042414" y="0"/>
                  </a:lnTo>
                  <a:lnTo>
                    <a:pt x="104241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81" r="-39881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27C8F30-17B5-A7DC-D507-0E192772B035}"/>
                </a:ext>
              </a:extLst>
            </p:cNvPr>
            <p:cNvSpPr txBox="1"/>
            <p:nvPr/>
          </p:nvSpPr>
          <p:spPr>
            <a:xfrm>
              <a:off x="0" y="-19050"/>
              <a:ext cx="1042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43141"/>
                  </a:solidFill>
                  <a:latin typeface="Play"/>
                  <a:ea typeface="Play"/>
                  <a:cs typeface="Play"/>
                  <a:sym typeface="Play"/>
                </a:rPr>
                <a:t>‹#›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DA8189B8-91D6-9457-5FDA-02B9D911C4AE}"/>
              </a:ext>
            </a:extLst>
          </p:cNvPr>
          <p:cNvSpPr txBox="1"/>
          <p:nvPr/>
        </p:nvSpPr>
        <p:spPr>
          <a:xfrm rot="5400000">
            <a:off x="-4289265" y="5882111"/>
            <a:ext cx="8963416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Pesquisa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9BB5FD3D-3957-B012-2249-BA4FA65DEEFF}"/>
              </a:ext>
            </a:extLst>
          </p:cNvPr>
          <p:cNvSpPr/>
          <p:nvPr/>
        </p:nvSpPr>
        <p:spPr>
          <a:xfrm rot="8250539">
            <a:off x="34528" y="973741"/>
            <a:ext cx="1875663" cy="0"/>
          </a:xfrm>
          <a:prstGeom prst="line">
            <a:avLst/>
          </a:prstGeom>
          <a:ln w="19050" cap="rnd">
            <a:solidFill>
              <a:srgbClr val="3345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4CF4B2C0-D2B0-3900-FD15-5901A6B65ABF}"/>
              </a:ext>
            </a:extLst>
          </p:cNvPr>
          <p:cNvGrpSpPr/>
          <p:nvPr/>
        </p:nvGrpSpPr>
        <p:grpSpPr>
          <a:xfrm>
            <a:off x="-155534" y="8870823"/>
            <a:ext cx="1860937" cy="1860937"/>
            <a:chOff x="0" y="0"/>
            <a:chExt cx="2481250" cy="2481250"/>
          </a:xfrm>
        </p:grpSpPr>
        <p:sp>
          <p:nvSpPr>
            <p:cNvPr id="15" name="Freeform 15" descr="Logotipo  Descrição gerada automaticamente">
              <a:extLst>
                <a:ext uri="{FF2B5EF4-FFF2-40B4-BE49-F238E27FC236}">
                  <a16:creationId xmlns:a16="http://schemas.microsoft.com/office/drawing/2014/main" id="{CFD27777-E5D1-DFD5-950F-2DAF717EAF78}"/>
                </a:ext>
              </a:extLst>
            </p:cNvPr>
            <p:cNvSpPr/>
            <p:nvPr/>
          </p:nvSpPr>
          <p:spPr>
            <a:xfrm>
              <a:off x="0" y="0"/>
              <a:ext cx="2481199" cy="2481199"/>
            </a:xfrm>
            <a:custGeom>
              <a:avLst/>
              <a:gdLst/>
              <a:ahLst/>
              <a:cxnLst/>
              <a:rect l="l" t="t" r="r" b="b"/>
              <a:pathLst>
                <a:path w="2481199" h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" b="-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03FAA823-8EDB-5F18-1276-D45F479B20DF}"/>
              </a:ext>
            </a:extLst>
          </p:cNvPr>
          <p:cNvSpPr txBox="1"/>
          <p:nvPr/>
        </p:nvSpPr>
        <p:spPr>
          <a:xfrm>
            <a:off x="1796834" y="130788"/>
            <a:ext cx="8990571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 Digital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B83DCC8-3479-7FEF-EE7D-6CE3679232B8}"/>
              </a:ext>
            </a:extLst>
          </p:cNvPr>
          <p:cNvSpPr txBox="1"/>
          <p:nvPr/>
        </p:nvSpPr>
        <p:spPr>
          <a:xfrm>
            <a:off x="1796834" y="1296947"/>
            <a:ext cx="13896163" cy="3040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0375" lvl="1" algn="just">
              <a:lnSpc>
                <a:spcPts val="4784"/>
              </a:lnSpc>
            </a:pPr>
            <a:r>
              <a:rPr lang="pt-BR" sz="398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Quiz interativo:</a:t>
            </a:r>
            <a:endParaRPr lang="pt-BR" sz="398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Banco com 30 perguntas.</a:t>
            </a:r>
          </a:p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perguntas </a:t>
            </a:r>
            <a:r>
              <a:rPr lang="pt-BR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aleatorias</a:t>
            </a: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por tentativa.</a:t>
            </a:r>
          </a:p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Feedback imediato.</a:t>
            </a:r>
          </a:p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Ranking gamificado com </a:t>
            </a:r>
            <a:r>
              <a:rPr lang="pt-BR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leaderboard</a:t>
            </a: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lang="en-US" sz="398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1D74587F-C437-1EF3-BC52-A8414EAEFD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9323" y="4801275"/>
            <a:ext cx="7293135" cy="3847426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DF1B4DE1-B8F4-FBE4-2827-2E1377A7E5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6121" y="5606013"/>
            <a:ext cx="6914004" cy="151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934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3C838-AF23-639B-77A2-FB6725CB5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738CA75-7036-F555-7B72-EC7A19248132}"/>
              </a:ext>
            </a:extLst>
          </p:cNvPr>
          <p:cNvGrpSpPr/>
          <p:nvPr/>
        </p:nvGrpSpPr>
        <p:grpSpPr>
          <a:xfrm>
            <a:off x="0" y="0"/>
            <a:ext cx="18288000" cy="10290238"/>
            <a:chOff x="0" y="0"/>
            <a:chExt cx="24384000" cy="137203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BF0A3A1-6F04-53C6-A3BA-FD2C39A7415F}"/>
                </a:ext>
              </a:extLst>
            </p:cNvPr>
            <p:cNvSpPr/>
            <p:nvPr/>
          </p:nvSpPr>
          <p:spPr>
            <a:xfrm>
              <a:off x="0" y="0"/>
              <a:ext cx="24384000" cy="13720318"/>
            </a:xfrm>
            <a:custGeom>
              <a:avLst/>
              <a:gdLst/>
              <a:ahLst/>
              <a:cxnLst/>
              <a:rect l="l" t="t" r="r" b="b"/>
              <a:pathLst>
                <a:path w="24384000" h="13720318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F74DD768-2652-71CE-4AD0-55E2C5747A9D}"/>
              </a:ext>
            </a:extLst>
          </p:cNvPr>
          <p:cNvSpPr/>
          <p:nvPr/>
        </p:nvSpPr>
        <p:spPr>
          <a:xfrm>
            <a:off x="750418" y="1254029"/>
            <a:ext cx="14942579" cy="1130947"/>
          </a:xfrm>
          <a:custGeom>
            <a:avLst/>
            <a:gdLst/>
            <a:ahLst/>
            <a:cxnLst/>
            <a:rect l="l" t="t" r="r" b="b"/>
            <a:pathLst>
              <a:path w="19923438" h="1507929">
                <a:moveTo>
                  <a:pt x="0" y="0"/>
                </a:moveTo>
                <a:lnTo>
                  <a:pt x="19923438" y="0"/>
                </a:lnTo>
                <a:lnTo>
                  <a:pt x="19923438" y="1507929"/>
                </a:lnTo>
                <a:lnTo>
                  <a:pt x="0" y="1507929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207444" b="-207445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315F678B-48C7-2463-1E8C-44A250EC3595}"/>
              </a:ext>
            </a:extLst>
          </p:cNvPr>
          <p:cNvGrpSpPr/>
          <p:nvPr/>
        </p:nvGrpSpPr>
        <p:grpSpPr>
          <a:xfrm>
            <a:off x="15850924" y="0"/>
            <a:ext cx="2437076" cy="10287000"/>
            <a:chOff x="0" y="0"/>
            <a:chExt cx="3249435" cy="137160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09526AF-EDB8-C6BE-6C50-4A9CA5223561}"/>
                </a:ext>
              </a:extLst>
            </p:cNvPr>
            <p:cNvSpPr/>
            <p:nvPr/>
          </p:nvSpPr>
          <p:spPr>
            <a:xfrm>
              <a:off x="0" y="0"/>
              <a:ext cx="3249422" cy="13716000"/>
            </a:xfrm>
            <a:custGeom>
              <a:avLst/>
              <a:gdLst/>
              <a:ahLst/>
              <a:cxnLst/>
              <a:rect l="l" t="t" r="r" b="b"/>
              <a:pathLst>
                <a:path w="3249422" h="13716000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2817" r="-647509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C7153F2-ADA2-22EA-3D55-3764911F36C8}"/>
              </a:ext>
            </a:extLst>
          </p:cNvPr>
          <p:cNvGrpSpPr/>
          <p:nvPr/>
        </p:nvGrpSpPr>
        <p:grpSpPr>
          <a:xfrm>
            <a:off x="17145000" y="9534525"/>
            <a:ext cx="781812" cy="547688"/>
            <a:chOff x="0" y="0"/>
            <a:chExt cx="1042416" cy="73025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3DCAA1C-B363-4068-A6AA-8D989324D467}"/>
                </a:ext>
              </a:extLst>
            </p:cNvPr>
            <p:cNvSpPr/>
            <p:nvPr/>
          </p:nvSpPr>
          <p:spPr>
            <a:xfrm>
              <a:off x="0" y="0"/>
              <a:ext cx="1042414" cy="730250"/>
            </a:xfrm>
            <a:custGeom>
              <a:avLst/>
              <a:gdLst/>
              <a:ahLst/>
              <a:cxnLst/>
              <a:rect l="l" t="t" r="r" b="b"/>
              <a:pathLst>
                <a:path w="1042414" h="730250">
                  <a:moveTo>
                    <a:pt x="0" y="0"/>
                  </a:moveTo>
                  <a:lnTo>
                    <a:pt x="1042414" y="0"/>
                  </a:lnTo>
                  <a:lnTo>
                    <a:pt x="104241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81" r="-39881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0EE4B2C-C059-141E-B617-EE923606E723}"/>
                </a:ext>
              </a:extLst>
            </p:cNvPr>
            <p:cNvSpPr txBox="1"/>
            <p:nvPr/>
          </p:nvSpPr>
          <p:spPr>
            <a:xfrm>
              <a:off x="0" y="-19050"/>
              <a:ext cx="1042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43141"/>
                  </a:solidFill>
                  <a:latin typeface="Play"/>
                  <a:ea typeface="Play"/>
                  <a:cs typeface="Play"/>
                  <a:sym typeface="Play"/>
                </a:rPr>
                <a:t>‹#›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5005A83-B367-4A88-C68D-5FF4338C8E3F}"/>
              </a:ext>
            </a:extLst>
          </p:cNvPr>
          <p:cNvSpPr txBox="1"/>
          <p:nvPr/>
        </p:nvSpPr>
        <p:spPr>
          <a:xfrm rot="5400000">
            <a:off x="-4289265" y="5882111"/>
            <a:ext cx="8963416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Pesquisa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5CB59F23-C87A-5527-9EE4-C31CBDD8C58B}"/>
              </a:ext>
            </a:extLst>
          </p:cNvPr>
          <p:cNvSpPr/>
          <p:nvPr/>
        </p:nvSpPr>
        <p:spPr>
          <a:xfrm rot="8250539">
            <a:off x="34528" y="973741"/>
            <a:ext cx="1875663" cy="0"/>
          </a:xfrm>
          <a:prstGeom prst="line">
            <a:avLst/>
          </a:prstGeom>
          <a:ln w="19050" cap="rnd">
            <a:solidFill>
              <a:srgbClr val="3345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1D170671-B007-B67E-F15A-39217070A575}"/>
              </a:ext>
            </a:extLst>
          </p:cNvPr>
          <p:cNvGrpSpPr/>
          <p:nvPr/>
        </p:nvGrpSpPr>
        <p:grpSpPr>
          <a:xfrm>
            <a:off x="-155534" y="8870823"/>
            <a:ext cx="1860937" cy="1860937"/>
            <a:chOff x="0" y="0"/>
            <a:chExt cx="2481250" cy="2481250"/>
          </a:xfrm>
        </p:grpSpPr>
        <p:sp>
          <p:nvSpPr>
            <p:cNvPr id="15" name="Freeform 15" descr="Logotipo  Descrição gerada automaticamente">
              <a:extLst>
                <a:ext uri="{FF2B5EF4-FFF2-40B4-BE49-F238E27FC236}">
                  <a16:creationId xmlns:a16="http://schemas.microsoft.com/office/drawing/2014/main" id="{0ECE1258-5299-C5C3-D969-BDC579C4BA9D}"/>
                </a:ext>
              </a:extLst>
            </p:cNvPr>
            <p:cNvSpPr/>
            <p:nvPr/>
          </p:nvSpPr>
          <p:spPr>
            <a:xfrm>
              <a:off x="0" y="0"/>
              <a:ext cx="2481199" cy="2481199"/>
            </a:xfrm>
            <a:custGeom>
              <a:avLst/>
              <a:gdLst/>
              <a:ahLst/>
              <a:cxnLst/>
              <a:rect l="l" t="t" r="r" b="b"/>
              <a:pathLst>
                <a:path w="2481199" h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" b="-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2D99B02C-CB1E-36D1-4111-DA7F6F73D49B}"/>
              </a:ext>
            </a:extLst>
          </p:cNvPr>
          <p:cNvSpPr txBox="1"/>
          <p:nvPr/>
        </p:nvSpPr>
        <p:spPr>
          <a:xfrm>
            <a:off x="1796834" y="130788"/>
            <a:ext cx="8990571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 Digital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BF5027A-824E-9265-485A-B12ADB0CBE65}"/>
              </a:ext>
            </a:extLst>
          </p:cNvPr>
          <p:cNvSpPr txBox="1"/>
          <p:nvPr/>
        </p:nvSpPr>
        <p:spPr>
          <a:xfrm>
            <a:off x="1796834" y="1296947"/>
            <a:ext cx="13896163" cy="2424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0375" lvl="1" algn="just">
              <a:lnSpc>
                <a:spcPts val="4784"/>
              </a:lnSpc>
            </a:pPr>
            <a:r>
              <a:rPr lang="pt-BR" sz="398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Área Aprenda:</a:t>
            </a:r>
            <a:endParaRPr lang="pt-BR" sz="398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Dicas práticas de segurança.</a:t>
            </a:r>
          </a:p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Conteúdo sobre </a:t>
            </a:r>
            <a:r>
              <a:rPr lang="pt-BR" sz="3986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phishing</a:t>
            </a: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senhas e privacidade.</a:t>
            </a:r>
          </a:p>
          <a:p>
            <a:pPr marL="860750" lvl="1" indent="-430375" algn="just">
              <a:lnSpc>
                <a:spcPts val="4784"/>
              </a:lnSpc>
              <a:buFont typeface="Arial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Ações recomendadas para proteção digital.</a:t>
            </a:r>
            <a:endParaRPr lang="en-US" sz="398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5D33014-A7F7-9569-8728-DBE86A779C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9631" y="4404817"/>
            <a:ext cx="7234370" cy="4516485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4E13ED71-7130-7D1C-666A-D6F4FCFB98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8732" y="4570797"/>
            <a:ext cx="8209817" cy="418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68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76909-2387-B989-6B26-C341DEA57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6549FC8-CE5A-702C-1A9F-2EB4AE541D4A}"/>
              </a:ext>
            </a:extLst>
          </p:cNvPr>
          <p:cNvGrpSpPr/>
          <p:nvPr/>
        </p:nvGrpSpPr>
        <p:grpSpPr>
          <a:xfrm>
            <a:off x="0" y="0"/>
            <a:ext cx="18288000" cy="10290238"/>
            <a:chOff x="0" y="0"/>
            <a:chExt cx="24384000" cy="137203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71E7797-134E-5CEF-CBA1-CDC844217DE6}"/>
                </a:ext>
              </a:extLst>
            </p:cNvPr>
            <p:cNvSpPr/>
            <p:nvPr/>
          </p:nvSpPr>
          <p:spPr>
            <a:xfrm>
              <a:off x="0" y="0"/>
              <a:ext cx="24384000" cy="13720318"/>
            </a:xfrm>
            <a:custGeom>
              <a:avLst/>
              <a:gdLst/>
              <a:ahLst/>
              <a:cxnLst/>
              <a:rect l="l" t="t" r="r" b="b"/>
              <a:pathLst>
                <a:path w="24384000" h="13720318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86EA59F-6859-14D2-6AA6-B3DBB8781D51}"/>
              </a:ext>
            </a:extLst>
          </p:cNvPr>
          <p:cNvGrpSpPr/>
          <p:nvPr/>
        </p:nvGrpSpPr>
        <p:grpSpPr>
          <a:xfrm>
            <a:off x="750418" y="1254029"/>
            <a:ext cx="14942582" cy="1130949"/>
            <a:chOff x="0" y="0"/>
            <a:chExt cx="19923442" cy="15079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8C36B64-C367-3BF5-A85F-DDA99D37B3D3}"/>
                </a:ext>
              </a:extLst>
            </p:cNvPr>
            <p:cNvSpPr/>
            <p:nvPr/>
          </p:nvSpPr>
          <p:spPr>
            <a:xfrm>
              <a:off x="0" y="0"/>
              <a:ext cx="19923438" cy="1507929"/>
            </a:xfrm>
            <a:custGeom>
              <a:avLst/>
              <a:gdLst/>
              <a:ahLst/>
              <a:cxnLst/>
              <a:rect l="l" t="t" r="r" b="b"/>
              <a:pathLst>
                <a:path w="19923438" h="1507929">
                  <a:moveTo>
                    <a:pt x="0" y="0"/>
                  </a:moveTo>
                  <a:lnTo>
                    <a:pt x="19923438" y="0"/>
                  </a:lnTo>
                  <a:lnTo>
                    <a:pt x="19923438" y="1507929"/>
                  </a:lnTo>
                  <a:lnTo>
                    <a:pt x="0" y="1507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44" b="-20744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2CDAF2A-57F1-EFBB-1B98-54A793775922}"/>
                </a:ext>
              </a:extLst>
            </p:cNvPr>
            <p:cNvSpPr txBox="1"/>
            <p:nvPr/>
          </p:nvSpPr>
          <p:spPr>
            <a:xfrm>
              <a:off x="0" y="-19050"/>
              <a:ext cx="19923442" cy="152698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759"/>
                </a:lnSpc>
              </a:pPr>
              <a:r>
                <a:rPr lang="pt-BR" sz="4800" b="1" dirty="0">
                  <a:solidFill>
                    <a:srgbClr val="3345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RESULTADOS: PERFIL E USO DA INTERNET</a:t>
              </a:r>
              <a:endParaRPr lang="en-US" sz="4800" b="1" dirty="0">
                <a:solidFill>
                  <a:srgbClr val="33455B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CCB0A2CC-B5DB-2422-631D-952B67ECB9C1}"/>
              </a:ext>
            </a:extLst>
          </p:cNvPr>
          <p:cNvGrpSpPr/>
          <p:nvPr/>
        </p:nvGrpSpPr>
        <p:grpSpPr>
          <a:xfrm>
            <a:off x="15850924" y="0"/>
            <a:ext cx="2437076" cy="10287000"/>
            <a:chOff x="0" y="0"/>
            <a:chExt cx="3249435" cy="137160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2A866C6-95D0-0E5C-536D-3EF4A9888DDD}"/>
                </a:ext>
              </a:extLst>
            </p:cNvPr>
            <p:cNvSpPr/>
            <p:nvPr/>
          </p:nvSpPr>
          <p:spPr>
            <a:xfrm>
              <a:off x="0" y="0"/>
              <a:ext cx="3249422" cy="13716000"/>
            </a:xfrm>
            <a:custGeom>
              <a:avLst/>
              <a:gdLst/>
              <a:ahLst/>
              <a:cxnLst/>
              <a:rect l="l" t="t" r="r" b="b"/>
              <a:pathLst>
                <a:path w="3249422" h="13716000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2817" r="-647509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0361680-EB04-2BA0-CD10-8130AB7AAE4E}"/>
              </a:ext>
            </a:extLst>
          </p:cNvPr>
          <p:cNvGrpSpPr/>
          <p:nvPr/>
        </p:nvGrpSpPr>
        <p:grpSpPr>
          <a:xfrm>
            <a:off x="17145000" y="9534525"/>
            <a:ext cx="781812" cy="547688"/>
            <a:chOff x="0" y="0"/>
            <a:chExt cx="1042416" cy="73025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E9EC5A9-62C6-BA0A-D059-F727A1BE0CEF}"/>
                </a:ext>
              </a:extLst>
            </p:cNvPr>
            <p:cNvSpPr/>
            <p:nvPr/>
          </p:nvSpPr>
          <p:spPr>
            <a:xfrm>
              <a:off x="0" y="0"/>
              <a:ext cx="1042414" cy="730250"/>
            </a:xfrm>
            <a:custGeom>
              <a:avLst/>
              <a:gdLst/>
              <a:ahLst/>
              <a:cxnLst/>
              <a:rect l="l" t="t" r="r" b="b"/>
              <a:pathLst>
                <a:path w="1042414" h="730250">
                  <a:moveTo>
                    <a:pt x="0" y="0"/>
                  </a:moveTo>
                  <a:lnTo>
                    <a:pt x="1042414" y="0"/>
                  </a:lnTo>
                  <a:lnTo>
                    <a:pt x="104241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81" r="-39881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AF12EC64-E41D-B468-9CF1-8994B7CD87E9}"/>
                </a:ext>
              </a:extLst>
            </p:cNvPr>
            <p:cNvSpPr txBox="1"/>
            <p:nvPr/>
          </p:nvSpPr>
          <p:spPr>
            <a:xfrm>
              <a:off x="0" y="-19050"/>
              <a:ext cx="1042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43141"/>
                  </a:solidFill>
                  <a:latin typeface="Play"/>
                  <a:ea typeface="Play"/>
                  <a:cs typeface="Play"/>
                  <a:sym typeface="Play"/>
                </a:rPr>
                <a:t>‹#›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A3CC733F-8419-8F13-F6CC-DF478DDFD99C}"/>
              </a:ext>
            </a:extLst>
          </p:cNvPr>
          <p:cNvSpPr txBox="1"/>
          <p:nvPr/>
        </p:nvSpPr>
        <p:spPr>
          <a:xfrm rot="5400000">
            <a:off x="-4289265" y="5882111"/>
            <a:ext cx="8963416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Pesquisa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506137D4-78AD-0FC8-FC48-1F076E623EC4}"/>
              </a:ext>
            </a:extLst>
          </p:cNvPr>
          <p:cNvSpPr/>
          <p:nvPr/>
        </p:nvSpPr>
        <p:spPr>
          <a:xfrm rot="8250539">
            <a:off x="34528" y="973741"/>
            <a:ext cx="1875663" cy="0"/>
          </a:xfrm>
          <a:prstGeom prst="line">
            <a:avLst/>
          </a:prstGeom>
          <a:ln w="19050" cap="rnd">
            <a:solidFill>
              <a:srgbClr val="3345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FD262228-9AB2-AB28-2F61-E008DD71362A}"/>
              </a:ext>
            </a:extLst>
          </p:cNvPr>
          <p:cNvGrpSpPr/>
          <p:nvPr/>
        </p:nvGrpSpPr>
        <p:grpSpPr>
          <a:xfrm>
            <a:off x="-155534" y="8870823"/>
            <a:ext cx="1860937" cy="1860937"/>
            <a:chOff x="0" y="0"/>
            <a:chExt cx="2481250" cy="2481250"/>
          </a:xfrm>
        </p:grpSpPr>
        <p:sp>
          <p:nvSpPr>
            <p:cNvPr id="15" name="Freeform 15" descr="Logotipo  Descrição gerada automaticamente">
              <a:extLst>
                <a:ext uri="{FF2B5EF4-FFF2-40B4-BE49-F238E27FC236}">
                  <a16:creationId xmlns:a16="http://schemas.microsoft.com/office/drawing/2014/main" id="{E2A03AC0-6C40-D1F1-9207-DB70A35CCC10}"/>
                </a:ext>
              </a:extLst>
            </p:cNvPr>
            <p:cNvSpPr/>
            <p:nvPr/>
          </p:nvSpPr>
          <p:spPr>
            <a:xfrm>
              <a:off x="0" y="0"/>
              <a:ext cx="2481199" cy="2481199"/>
            </a:xfrm>
            <a:custGeom>
              <a:avLst/>
              <a:gdLst/>
              <a:ahLst/>
              <a:cxnLst/>
              <a:rect l="l" t="t" r="r" b="b"/>
              <a:pathLst>
                <a:path w="2481199" h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" b="-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168C2DC7-0FF1-7597-8B7C-B097D8BD3D22}"/>
              </a:ext>
            </a:extLst>
          </p:cNvPr>
          <p:cNvSpPr txBox="1"/>
          <p:nvPr/>
        </p:nvSpPr>
        <p:spPr>
          <a:xfrm>
            <a:off x="1796834" y="130788"/>
            <a:ext cx="8990571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 Digital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F220618-6AC3-5E9B-7993-1F6DDC8562B7}"/>
              </a:ext>
            </a:extLst>
          </p:cNvPr>
          <p:cNvSpPr txBox="1"/>
          <p:nvPr/>
        </p:nvSpPr>
        <p:spPr>
          <a:xfrm>
            <a:off x="1796834" y="2924175"/>
            <a:ext cx="13896163" cy="4886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0375" lvl="1" algn="just">
              <a:lnSpc>
                <a:spcPts val="4784"/>
              </a:lnSpc>
            </a:pPr>
            <a:r>
              <a:rPr lang="pt-BR" sz="398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Perfil dos Participantes e Uso da Internet</a:t>
            </a:r>
          </a:p>
          <a:p>
            <a:pPr marL="1001875" lvl="1" indent="-571500" algn="just">
              <a:lnSpc>
                <a:spcPts val="4784"/>
              </a:lnSpc>
              <a:buFont typeface="Arial" panose="020B0604020202020204" pitchFamily="34" charset="0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88% usam o celular como principal dispositivo de acesso.</a:t>
            </a:r>
          </a:p>
          <a:p>
            <a:pPr marL="1001875" lvl="1" indent="-571500" algn="just">
              <a:lnSpc>
                <a:spcPts val="4784"/>
              </a:lnSpc>
              <a:buFont typeface="Arial" panose="020B0604020202020204" pitchFamily="34" charset="0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35% ficam mais de 6 horas por dia conectados.</a:t>
            </a:r>
          </a:p>
          <a:p>
            <a:pPr marL="1001875" lvl="1" indent="-571500" algn="just">
              <a:lnSpc>
                <a:spcPts val="4784"/>
              </a:lnSpc>
              <a:buFont typeface="Arial" panose="020B0604020202020204" pitchFamily="34" charset="0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26% afirmam estar conectados o tempo todo.</a:t>
            </a:r>
          </a:p>
          <a:p>
            <a:pPr marL="1001875" lvl="1" indent="-571500" algn="just">
              <a:lnSpc>
                <a:spcPts val="4784"/>
              </a:lnSpc>
              <a:buFont typeface="Arial" panose="020B0604020202020204" pitchFamily="34" charset="0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71% usam Wi-Fi privado como principal conexão.</a:t>
            </a:r>
          </a:p>
          <a:p>
            <a:pPr marL="1001875" lvl="1" indent="-571500" algn="just">
              <a:lnSpc>
                <a:spcPts val="4784"/>
              </a:lnSpc>
              <a:buFont typeface="Arial" panose="020B0604020202020204" pitchFamily="34" charset="0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51% já deixaram de realizar alguma atividade por falta de acesso à tecnologia.</a:t>
            </a:r>
            <a:endParaRPr lang="en-US" sz="398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2936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6E189-BD80-8836-9D82-1D0EFCB87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9ABFF27-9DD6-4D39-78BE-1BCA21FE2B9B}"/>
              </a:ext>
            </a:extLst>
          </p:cNvPr>
          <p:cNvGrpSpPr/>
          <p:nvPr/>
        </p:nvGrpSpPr>
        <p:grpSpPr>
          <a:xfrm>
            <a:off x="0" y="0"/>
            <a:ext cx="18288000" cy="10290238"/>
            <a:chOff x="0" y="0"/>
            <a:chExt cx="24384000" cy="137203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D29BA2A-582F-86EF-8EBB-4BF9F1AB9CA3}"/>
                </a:ext>
              </a:extLst>
            </p:cNvPr>
            <p:cNvSpPr/>
            <p:nvPr/>
          </p:nvSpPr>
          <p:spPr>
            <a:xfrm>
              <a:off x="0" y="0"/>
              <a:ext cx="24384000" cy="13720318"/>
            </a:xfrm>
            <a:custGeom>
              <a:avLst/>
              <a:gdLst/>
              <a:ahLst/>
              <a:cxnLst/>
              <a:rect l="l" t="t" r="r" b="b"/>
              <a:pathLst>
                <a:path w="24384000" h="13720318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929A88B-428F-F426-9D36-ACF77DEADEE5}"/>
              </a:ext>
            </a:extLst>
          </p:cNvPr>
          <p:cNvGrpSpPr/>
          <p:nvPr/>
        </p:nvGrpSpPr>
        <p:grpSpPr>
          <a:xfrm>
            <a:off x="750418" y="1254029"/>
            <a:ext cx="14942582" cy="1130949"/>
            <a:chOff x="0" y="0"/>
            <a:chExt cx="19923442" cy="15079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FE04D30-B06D-0EA2-AAF6-2A8E4D7960B4}"/>
                </a:ext>
              </a:extLst>
            </p:cNvPr>
            <p:cNvSpPr/>
            <p:nvPr/>
          </p:nvSpPr>
          <p:spPr>
            <a:xfrm>
              <a:off x="0" y="0"/>
              <a:ext cx="19923438" cy="1507929"/>
            </a:xfrm>
            <a:custGeom>
              <a:avLst/>
              <a:gdLst/>
              <a:ahLst/>
              <a:cxnLst/>
              <a:rect l="l" t="t" r="r" b="b"/>
              <a:pathLst>
                <a:path w="19923438" h="1507929">
                  <a:moveTo>
                    <a:pt x="0" y="0"/>
                  </a:moveTo>
                  <a:lnTo>
                    <a:pt x="19923438" y="0"/>
                  </a:lnTo>
                  <a:lnTo>
                    <a:pt x="19923438" y="1507929"/>
                  </a:lnTo>
                  <a:lnTo>
                    <a:pt x="0" y="1507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44" b="-20744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C6A8FBB-6584-A4DE-5182-9AE55A1B6DE7}"/>
                </a:ext>
              </a:extLst>
            </p:cNvPr>
            <p:cNvSpPr txBox="1"/>
            <p:nvPr/>
          </p:nvSpPr>
          <p:spPr>
            <a:xfrm>
              <a:off x="0" y="-19050"/>
              <a:ext cx="19923442" cy="152698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759"/>
                </a:lnSpc>
              </a:pPr>
              <a:r>
                <a:rPr lang="pt-BR" sz="4800" b="1" dirty="0">
                  <a:solidFill>
                    <a:srgbClr val="3345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RESULTADOS: HIGIENE DIGITAL</a:t>
              </a:r>
              <a:endParaRPr lang="en-US" sz="4800" b="1" dirty="0">
                <a:solidFill>
                  <a:srgbClr val="33455B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141CBD14-A7FF-E34D-5CDF-0808B6496CC5}"/>
              </a:ext>
            </a:extLst>
          </p:cNvPr>
          <p:cNvGrpSpPr/>
          <p:nvPr/>
        </p:nvGrpSpPr>
        <p:grpSpPr>
          <a:xfrm>
            <a:off x="15850924" y="0"/>
            <a:ext cx="2437076" cy="10287000"/>
            <a:chOff x="0" y="0"/>
            <a:chExt cx="3249435" cy="137160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E02D6F4-70AD-A748-ABF0-B8A4238F8B89}"/>
                </a:ext>
              </a:extLst>
            </p:cNvPr>
            <p:cNvSpPr/>
            <p:nvPr/>
          </p:nvSpPr>
          <p:spPr>
            <a:xfrm>
              <a:off x="0" y="0"/>
              <a:ext cx="3249422" cy="13716000"/>
            </a:xfrm>
            <a:custGeom>
              <a:avLst/>
              <a:gdLst/>
              <a:ahLst/>
              <a:cxnLst/>
              <a:rect l="l" t="t" r="r" b="b"/>
              <a:pathLst>
                <a:path w="3249422" h="13716000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2817" r="-647509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BD32374-7C9A-99A1-1D07-2C2DD63B7306}"/>
              </a:ext>
            </a:extLst>
          </p:cNvPr>
          <p:cNvGrpSpPr/>
          <p:nvPr/>
        </p:nvGrpSpPr>
        <p:grpSpPr>
          <a:xfrm>
            <a:off x="17145000" y="9534525"/>
            <a:ext cx="781812" cy="547688"/>
            <a:chOff x="0" y="0"/>
            <a:chExt cx="1042416" cy="73025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4A95416-1A98-12B4-D2BF-5C9E6966D7C5}"/>
                </a:ext>
              </a:extLst>
            </p:cNvPr>
            <p:cNvSpPr/>
            <p:nvPr/>
          </p:nvSpPr>
          <p:spPr>
            <a:xfrm>
              <a:off x="0" y="0"/>
              <a:ext cx="1042414" cy="730250"/>
            </a:xfrm>
            <a:custGeom>
              <a:avLst/>
              <a:gdLst/>
              <a:ahLst/>
              <a:cxnLst/>
              <a:rect l="l" t="t" r="r" b="b"/>
              <a:pathLst>
                <a:path w="1042414" h="730250">
                  <a:moveTo>
                    <a:pt x="0" y="0"/>
                  </a:moveTo>
                  <a:lnTo>
                    <a:pt x="1042414" y="0"/>
                  </a:lnTo>
                  <a:lnTo>
                    <a:pt x="104241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81" r="-39881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CF67645-1442-9115-8237-E19E94D8BB54}"/>
                </a:ext>
              </a:extLst>
            </p:cNvPr>
            <p:cNvSpPr txBox="1"/>
            <p:nvPr/>
          </p:nvSpPr>
          <p:spPr>
            <a:xfrm>
              <a:off x="0" y="-19050"/>
              <a:ext cx="1042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43141"/>
                  </a:solidFill>
                  <a:latin typeface="Play"/>
                  <a:ea typeface="Play"/>
                  <a:cs typeface="Play"/>
                  <a:sym typeface="Play"/>
                </a:rPr>
                <a:t>‹#›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822DC53D-FC6A-574A-78DC-01A2FD8AABF5}"/>
              </a:ext>
            </a:extLst>
          </p:cNvPr>
          <p:cNvSpPr txBox="1"/>
          <p:nvPr/>
        </p:nvSpPr>
        <p:spPr>
          <a:xfrm rot="5400000">
            <a:off x="-4289265" y="5882111"/>
            <a:ext cx="8963416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Pesquisa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9618FFD9-F29D-1048-F88D-B12B44876A76}"/>
              </a:ext>
            </a:extLst>
          </p:cNvPr>
          <p:cNvSpPr/>
          <p:nvPr/>
        </p:nvSpPr>
        <p:spPr>
          <a:xfrm rot="8250539">
            <a:off x="34528" y="973741"/>
            <a:ext cx="1875663" cy="0"/>
          </a:xfrm>
          <a:prstGeom prst="line">
            <a:avLst/>
          </a:prstGeom>
          <a:ln w="19050" cap="rnd">
            <a:solidFill>
              <a:srgbClr val="3345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A799B0D2-A2F0-ED9B-F793-34614CA2D314}"/>
              </a:ext>
            </a:extLst>
          </p:cNvPr>
          <p:cNvGrpSpPr/>
          <p:nvPr/>
        </p:nvGrpSpPr>
        <p:grpSpPr>
          <a:xfrm>
            <a:off x="-155534" y="8870823"/>
            <a:ext cx="1860937" cy="1860937"/>
            <a:chOff x="0" y="0"/>
            <a:chExt cx="2481250" cy="2481250"/>
          </a:xfrm>
        </p:grpSpPr>
        <p:sp>
          <p:nvSpPr>
            <p:cNvPr id="15" name="Freeform 15" descr="Logotipo  Descrição gerada automaticamente">
              <a:extLst>
                <a:ext uri="{FF2B5EF4-FFF2-40B4-BE49-F238E27FC236}">
                  <a16:creationId xmlns:a16="http://schemas.microsoft.com/office/drawing/2014/main" id="{8CB6131A-6CC9-B696-271C-FCF4F0A0EC49}"/>
                </a:ext>
              </a:extLst>
            </p:cNvPr>
            <p:cNvSpPr/>
            <p:nvPr/>
          </p:nvSpPr>
          <p:spPr>
            <a:xfrm>
              <a:off x="0" y="0"/>
              <a:ext cx="2481199" cy="2481199"/>
            </a:xfrm>
            <a:custGeom>
              <a:avLst/>
              <a:gdLst/>
              <a:ahLst/>
              <a:cxnLst/>
              <a:rect l="l" t="t" r="r" b="b"/>
              <a:pathLst>
                <a:path w="2481199" h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" b="-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5AEBA4D3-3010-0E51-780E-40A8389E95DB}"/>
              </a:ext>
            </a:extLst>
          </p:cNvPr>
          <p:cNvSpPr txBox="1"/>
          <p:nvPr/>
        </p:nvSpPr>
        <p:spPr>
          <a:xfrm>
            <a:off x="1796834" y="130788"/>
            <a:ext cx="8990571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 Digital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58F7522-9B40-1BD1-4260-CD70DA9AA778}"/>
              </a:ext>
            </a:extLst>
          </p:cNvPr>
          <p:cNvSpPr txBox="1"/>
          <p:nvPr/>
        </p:nvSpPr>
        <p:spPr>
          <a:xfrm>
            <a:off x="1796834" y="2924175"/>
            <a:ext cx="13896163" cy="55024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0375" lvl="1" algn="just">
              <a:lnSpc>
                <a:spcPts val="4784"/>
              </a:lnSpc>
            </a:pPr>
            <a:r>
              <a:rPr lang="pt-BR" sz="398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Hábitos de Segurança Digital</a:t>
            </a:r>
          </a:p>
          <a:p>
            <a:pPr marL="1001875" lvl="1" indent="-571500" algn="just">
              <a:lnSpc>
                <a:spcPts val="4784"/>
              </a:lnSpc>
              <a:buFont typeface="Arial" panose="020B0604020202020204" pitchFamily="34" charset="0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65% usam senhas diferentes apenas às vezes.</a:t>
            </a:r>
          </a:p>
          <a:p>
            <a:pPr marL="1001875" lvl="1" indent="-571500" algn="just">
              <a:lnSpc>
                <a:spcPts val="4784"/>
              </a:lnSpc>
              <a:buFont typeface="Arial" panose="020B0604020202020204" pitchFamily="34" charset="0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Apenas 27% sempre diversificam senhas.</a:t>
            </a:r>
          </a:p>
          <a:p>
            <a:pPr marL="1001875" lvl="1" indent="-571500" algn="just">
              <a:lnSpc>
                <a:spcPts val="4784"/>
              </a:lnSpc>
              <a:buFont typeface="Arial" panose="020B0604020202020204" pitchFamily="34" charset="0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35% usam autenticação em duas etapas em todas as contas.</a:t>
            </a:r>
          </a:p>
          <a:p>
            <a:pPr marL="1001875" lvl="1" indent="-571500" algn="just">
              <a:lnSpc>
                <a:spcPts val="4784"/>
              </a:lnSpc>
              <a:buFont typeface="Arial" panose="020B0604020202020204" pitchFamily="34" charset="0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22% não usam autenticação em duas etapas.</a:t>
            </a:r>
          </a:p>
          <a:p>
            <a:pPr marL="1001875" lvl="1" indent="-571500" algn="just">
              <a:lnSpc>
                <a:spcPts val="4784"/>
              </a:lnSpc>
              <a:buFont typeface="Arial" panose="020B0604020202020204" pitchFamily="34" charset="0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36% já foram vítimas de golpes online.</a:t>
            </a:r>
          </a:p>
          <a:p>
            <a:pPr marL="1001875" lvl="1" indent="-571500" algn="just">
              <a:lnSpc>
                <a:spcPts val="4784"/>
              </a:lnSpc>
              <a:buFont typeface="Arial" panose="020B0604020202020204" pitchFamily="34" charset="0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48% sempre verificam se um site é seguro antes de navegar.</a:t>
            </a:r>
            <a:endParaRPr lang="en-US" sz="398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6967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03BF5-6D1D-03F6-F35F-9101721B9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DB64156-B7D4-1486-C064-F32BE1490380}"/>
              </a:ext>
            </a:extLst>
          </p:cNvPr>
          <p:cNvGrpSpPr/>
          <p:nvPr/>
        </p:nvGrpSpPr>
        <p:grpSpPr>
          <a:xfrm>
            <a:off x="0" y="0"/>
            <a:ext cx="18288000" cy="10290238"/>
            <a:chOff x="0" y="0"/>
            <a:chExt cx="24384000" cy="137203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EB994D9-93D4-E455-9D10-3B7C369B0D01}"/>
                </a:ext>
              </a:extLst>
            </p:cNvPr>
            <p:cNvSpPr/>
            <p:nvPr/>
          </p:nvSpPr>
          <p:spPr>
            <a:xfrm>
              <a:off x="0" y="0"/>
              <a:ext cx="24384000" cy="13720318"/>
            </a:xfrm>
            <a:custGeom>
              <a:avLst/>
              <a:gdLst/>
              <a:ahLst/>
              <a:cxnLst/>
              <a:rect l="l" t="t" r="r" b="b"/>
              <a:pathLst>
                <a:path w="24384000" h="13720318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FC564EF-AD9B-E6F8-25A7-7A15E6C310BF}"/>
              </a:ext>
            </a:extLst>
          </p:cNvPr>
          <p:cNvGrpSpPr/>
          <p:nvPr/>
        </p:nvGrpSpPr>
        <p:grpSpPr>
          <a:xfrm>
            <a:off x="750418" y="1254029"/>
            <a:ext cx="14942582" cy="1130949"/>
            <a:chOff x="0" y="0"/>
            <a:chExt cx="19923442" cy="15079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F4A0E57-473D-8194-76B6-F0E25216FE77}"/>
                </a:ext>
              </a:extLst>
            </p:cNvPr>
            <p:cNvSpPr/>
            <p:nvPr/>
          </p:nvSpPr>
          <p:spPr>
            <a:xfrm>
              <a:off x="0" y="0"/>
              <a:ext cx="19923438" cy="1507929"/>
            </a:xfrm>
            <a:custGeom>
              <a:avLst/>
              <a:gdLst/>
              <a:ahLst/>
              <a:cxnLst/>
              <a:rect l="l" t="t" r="r" b="b"/>
              <a:pathLst>
                <a:path w="19923438" h="1507929">
                  <a:moveTo>
                    <a:pt x="0" y="0"/>
                  </a:moveTo>
                  <a:lnTo>
                    <a:pt x="19923438" y="0"/>
                  </a:lnTo>
                  <a:lnTo>
                    <a:pt x="19923438" y="1507929"/>
                  </a:lnTo>
                  <a:lnTo>
                    <a:pt x="0" y="1507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44" b="-20744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76B85E5-47FA-8685-1BB6-9C6B53D59584}"/>
                </a:ext>
              </a:extLst>
            </p:cNvPr>
            <p:cNvSpPr txBox="1"/>
            <p:nvPr/>
          </p:nvSpPr>
          <p:spPr>
            <a:xfrm>
              <a:off x="0" y="-19050"/>
              <a:ext cx="19923442" cy="152698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759"/>
                </a:lnSpc>
              </a:pPr>
              <a:r>
                <a:rPr lang="pt-BR" sz="4800" b="1" dirty="0">
                  <a:solidFill>
                    <a:srgbClr val="3345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RESULTADOS: PRIVACIDADE E LGPD</a:t>
              </a:r>
              <a:endParaRPr lang="en-US" sz="4800" b="1" dirty="0">
                <a:solidFill>
                  <a:srgbClr val="33455B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5F267EC0-AC6D-4986-3EC2-32BE1D62A857}"/>
              </a:ext>
            </a:extLst>
          </p:cNvPr>
          <p:cNvGrpSpPr/>
          <p:nvPr/>
        </p:nvGrpSpPr>
        <p:grpSpPr>
          <a:xfrm>
            <a:off x="15850924" y="0"/>
            <a:ext cx="2437076" cy="10287000"/>
            <a:chOff x="0" y="0"/>
            <a:chExt cx="3249435" cy="137160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94B449A-2282-8070-D9D1-6E27AEA6C94F}"/>
                </a:ext>
              </a:extLst>
            </p:cNvPr>
            <p:cNvSpPr/>
            <p:nvPr/>
          </p:nvSpPr>
          <p:spPr>
            <a:xfrm>
              <a:off x="0" y="0"/>
              <a:ext cx="3249422" cy="13716000"/>
            </a:xfrm>
            <a:custGeom>
              <a:avLst/>
              <a:gdLst/>
              <a:ahLst/>
              <a:cxnLst/>
              <a:rect l="l" t="t" r="r" b="b"/>
              <a:pathLst>
                <a:path w="3249422" h="13716000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2817" r="-647509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0F16F36-E5B9-FADF-FDC2-3ACD8D3C958D}"/>
              </a:ext>
            </a:extLst>
          </p:cNvPr>
          <p:cNvGrpSpPr/>
          <p:nvPr/>
        </p:nvGrpSpPr>
        <p:grpSpPr>
          <a:xfrm>
            <a:off x="17145000" y="9534525"/>
            <a:ext cx="781812" cy="547688"/>
            <a:chOff x="0" y="0"/>
            <a:chExt cx="1042416" cy="73025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50DDA54-6E8C-4095-B9D0-E05B8C9D80DA}"/>
                </a:ext>
              </a:extLst>
            </p:cNvPr>
            <p:cNvSpPr/>
            <p:nvPr/>
          </p:nvSpPr>
          <p:spPr>
            <a:xfrm>
              <a:off x="0" y="0"/>
              <a:ext cx="1042414" cy="730250"/>
            </a:xfrm>
            <a:custGeom>
              <a:avLst/>
              <a:gdLst/>
              <a:ahLst/>
              <a:cxnLst/>
              <a:rect l="l" t="t" r="r" b="b"/>
              <a:pathLst>
                <a:path w="1042414" h="730250">
                  <a:moveTo>
                    <a:pt x="0" y="0"/>
                  </a:moveTo>
                  <a:lnTo>
                    <a:pt x="1042414" y="0"/>
                  </a:lnTo>
                  <a:lnTo>
                    <a:pt x="104241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81" r="-39881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B318C90-7610-DB21-E161-9B1EA0123D4E}"/>
                </a:ext>
              </a:extLst>
            </p:cNvPr>
            <p:cNvSpPr txBox="1"/>
            <p:nvPr/>
          </p:nvSpPr>
          <p:spPr>
            <a:xfrm>
              <a:off x="0" y="-19050"/>
              <a:ext cx="1042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43141"/>
                  </a:solidFill>
                  <a:latin typeface="Play"/>
                  <a:ea typeface="Play"/>
                  <a:cs typeface="Play"/>
                  <a:sym typeface="Play"/>
                </a:rPr>
                <a:t>‹#›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71D8C48-5CED-2B64-4922-35E00FE4CD92}"/>
              </a:ext>
            </a:extLst>
          </p:cNvPr>
          <p:cNvSpPr txBox="1"/>
          <p:nvPr/>
        </p:nvSpPr>
        <p:spPr>
          <a:xfrm rot="5400000">
            <a:off x="-4289265" y="5882111"/>
            <a:ext cx="8963416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Pesquisa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3B1105C6-04C0-E4B4-2BAF-0DE954BD2EA7}"/>
              </a:ext>
            </a:extLst>
          </p:cNvPr>
          <p:cNvSpPr/>
          <p:nvPr/>
        </p:nvSpPr>
        <p:spPr>
          <a:xfrm rot="8250539">
            <a:off x="34528" y="973741"/>
            <a:ext cx="1875663" cy="0"/>
          </a:xfrm>
          <a:prstGeom prst="line">
            <a:avLst/>
          </a:prstGeom>
          <a:ln w="19050" cap="rnd">
            <a:solidFill>
              <a:srgbClr val="3345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65812179-3C96-EEBD-98B4-AADD213CC2D5}"/>
              </a:ext>
            </a:extLst>
          </p:cNvPr>
          <p:cNvGrpSpPr/>
          <p:nvPr/>
        </p:nvGrpSpPr>
        <p:grpSpPr>
          <a:xfrm>
            <a:off x="-155534" y="8870823"/>
            <a:ext cx="1860937" cy="1860937"/>
            <a:chOff x="0" y="0"/>
            <a:chExt cx="2481250" cy="2481250"/>
          </a:xfrm>
        </p:grpSpPr>
        <p:sp>
          <p:nvSpPr>
            <p:cNvPr id="15" name="Freeform 15" descr="Logotipo  Descrição gerada automaticamente">
              <a:extLst>
                <a:ext uri="{FF2B5EF4-FFF2-40B4-BE49-F238E27FC236}">
                  <a16:creationId xmlns:a16="http://schemas.microsoft.com/office/drawing/2014/main" id="{EE43265F-B6EA-F5A0-9646-0771E0744566}"/>
                </a:ext>
              </a:extLst>
            </p:cNvPr>
            <p:cNvSpPr/>
            <p:nvPr/>
          </p:nvSpPr>
          <p:spPr>
            <a:xfrm>
              <a:off x="0" y="0"/>
              <a:ext cx="2481199" cy="2481199"/>
            </a:xfrm>
            <a:custGeom>
              <a:avLst/>
              <a:gdLst/>
              <a:ahLst/>
              <a:cxnLst/>
              <a:rect l="l" t="t" r="r" b="b"/>
              <a:pathLst>
                <a:path w="2481199" h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" b="-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06190B03-BEFB-88BF-4934-5F1F8FA4893D}"/>
              </a:ext>
            </a:extLst>
          </p:cNvPr>
          <p:cNvSpPr txBox="1"/>
          <p:nvPr/>
        </p:nvSpPr>
        <p:spPr>
          <a:xfrm>
            <a:off x="1796834" y="130788"/>
            <a:ext cx="8990571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 Digital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3214F27-B0D6-EDFA-43E4-2147751C86DB}"/>
              </a:ext>
            </a:extLst>
          </p:cNvPr>
          <p:cNvSpPr txBox="1"/>
          <p:nvPr/>
        </p:nvSpPr>
        <p:spPr>
          <a:xfrm>
            <a:off x="1796834" y="2924175"/>
            <a:ext cx="13896163" cy="4886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0375" lvl="1" algn="just">
              <a:lnSpc>
                <a:spcPts val="4784"/>
              </a:lnSpc>
            </a:pPr>
            <a:r>
              <a:rPr lang="pt-BR" sz="398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Privacidade e LGPD</a:t>
            </a:r>
          </a:p>
          <a:p>
            <a:pPr marL="1001875" lvl="1" indent="-571500" algn="just">
              <a:lnSpc>
                <a:spcPts val="4784"/>
              </a:lnSpc>
              <a:buFont typeface="Arial" panose="020B0604020202020204" pitchFamily="34" charset="0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68% já ouviram falar da LGPD.</a:t>
            </a:r>
          </a:p>
          <a:p>
            <a:pPr marL="1001875" lvl="1" indent="-571500" algn="just">
              <a:lnSpc>
                <a:spcPts val="4784"/>
              </a:lnSpc>
              <a:buFont typeface="Arial" panose="020B0604020202020204" pitchFamily="34" charset="0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Apenas 5% declaram ter alto conhecimento sobre proteção de dados.</a:t>
            </a:r>
          </a:p>
          <a:p>
            <a:pPr marL="1001875" lvl="1" indent="-571500" algn="just">
              <a:lnSpc>
                <a:spcPts val="4784"/>
              </a:lnSpc>
              <a:buFont typeface="Arial" panose="020B0604020202020204" pitchFamily="34" charset="0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50% nunca leem termos de uso ou políticas de privacidade.</a:t>
            </a:r>
          </a:p>
          <a:p>
            <a:pPr marL="1001875" lvl="1" indent="-571500" algn="just">
              <a:lnSpc>
                <a:spcPts val="4784"/>
              </a:lnSpc>
              <a:buFont typeface="Arial" panose="020B0604020202020204" pitchFamily="34" charset="0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83% já deixaram de usar algum serviço por preocupação com privacidade.</a:t>
            </a:r>
            <a:endParaRPr lang="en-US" sz="398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233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CD5D0-EB96-786D-8BF9-EFF57BD15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6E17784-5029-9749-71D0-49CEF8B6DE7A}"/>
              </a:ext>
            </a:extLst>
          </p:cNvPr>
          <p:cNvGrpSpPr/>
          <p:nvPr/>
        </p:nvGrpSpPr>
        <p:grpSpPr>
          <a:xfrm>
            <a:off x="0" y="0"/>
            <a:ext cx="18288000" cy="10290238"/>
            <a:chOff x="0" y="0"/>
            <a:chExt cx="24384000" cy="137203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10C2C4B-8FB7-A232-8A29-29E727ABF619}"/>
                </a:ext>
              </a:extLst>
            </p:cNvPr>
            <p:cNvSpPr/>
            <p:nvPr/>
          </p:nvSpPr>
          <p:spPr>
            <a:xfrm>
              <a:off x="0" y="0"/>
              <a:ext cx="24384000" cy="13720318"/>
            </a:xfrm>
            <a:custGeom>
              <a:avLst/>
              <a:gdLst/>
              <a:ahLst/>
              <a:cxnLst/>
              <a:rect l="l" t="t" r="r" b="b"/>
              <a:pathLst>
                <a:path w="24384000" h="13720318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E92CA71-AC96-6BB5-F18A-D7DD74988826}"/>
              </a:ext>
            </a:extLst>
          </p:cNvPr>
          <p:cNvGrpSpPr/>
          <p:nvPr/>
        </p:nvGrpSpPr>
        <p:grpSpPr>
          <a:xfrm>
            <a:off x="750418" y="1254029"/>
            <a:ext cx="14942582" cy="1130949"/>
            <a:chOff x="0" y="0"/>
            <a:chExt cx="19923442" cy="15079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F0A170D-D89B-A74E-A94E-080FF61633FC}"/>
                </a:ext>
              </a:extLst>
            </p:cNvPr>
            <p:cNvSpPr/>
            <p:nvPr/>
          </p:nvSpPr>
          <p:spPr>
            <a:xfrm>
              <a:off x="0" y="0"/>
              <a:ext cx="19923438" cy="1507929"/>
            </a:xfrm>
            <a:custGeom>
              <a:avLst/>
              <a:gdLst/>
              <a:ahLst/>
              <a:cxnLst/>
              <a:rect l="l" t="t" r="r" b="b"/>
              <a:pathLst>
                <a:path w="19923438" h="1507929">
                  <a:moveTo>
                    <a:pt x="0" y="0"/>
                  </a:moveTo>
                  <a:lnTo>
                    <a:pt x="19923438" y="0"/>
                  </a:lnTo>
                  <a:lnTo>
                    <a:pt x="19923438" y="1507929"/>
                  </a:lnTo>
                  <a:lnTo>
                    <a:pt x="0" y="1507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44" b="-20744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5882FDE-DC03-6715-BD0C-27F514FB7396}"/>
                </a:ext>
              </a:extLst>
            </p:cNvPr>
            <p:cNvSpPr txBox="1"/>
            <p:nvPr/>
          </p:nvSpPr>
          <p:spPr>
            <a:xfrm>
              <a:off x="0" y="-19050"/>
              <a:ext cx="19923442" cy="152698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759"/>
                </a:lnSpc>
              </a:pPr>
              <a:r>
                <a:rPr lang="pt-BR" sz="4800" b="1" dirty="0">
                  <a:solidFill>
                    <a:srgbClr val="3345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RESULTADOS: INTELIGÊNCIA ARTIFICIAL</a:t>
              </a:r>
              <a:endParaRPr lang="en-US" sz="4800" b="1" dirty="0">
                <a:solidFill>
                  <a:srgbClr val="33455B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FE37ED43-5314-E42D-F7BE-2F36E0D1EC4F}"/>
              </a:ext>
            </a:extLst>
          </p:cNvPr>
          <p:cNvGrpSpPr/>
          <p:nvPr/>
        </p:nvGrpSpPr>
        <p:grpSpPr>
          <a:xfrm>
            <a:off x="15850924" y="0"/>
            <a:ext cx="2437076" cy="10287000"/>
            <a:chOff x="0" y="0"/>
            <a:chExt cx="3249435" cy="137160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E0F3978-A45E-A93C-E1B9-28C4D2ACEBF7}"/>
                </a:ext>
              </a:extLst>
            </p:cNvPr>
            <p:cNvSpPr/>
            <p:nvPr/>
          </p:nvSpPr>
          <p:spPr>
            <a:xfrm>
              <a:off x="0" y="0"/>
              <a:ext cx="3249422" cy="13716000"/>
            </a:xfrm>
            <a:custGeom>
              <a:avLst/>
              <a:gdLst/>
              <a:ahLst/>
              <a:cxnLst/>
              <a:rect l="l" t="t" r="r" b="b"/>
              <a:pathLst>
                <a:path w="3249422" h="13716000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2817" r="-647509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D896F9B-C566-D88E-9D1B-9B30D90CE18C}"/>
              </a:ext>
            </a:extLst>
          </p:cNvPr>
          <p:cNvGrpSpPr/>
          <p:nvPr/>
        </p:nvGrpSpPr>
        <p:grpSpPr>
          <a:xfrm>
            <a:off x="17145000" y="9534525"/>
            <a:ext cx="781812" cy="547688"/>
            <a:chOff x="0" y="0"/>
            <a:chExt cx="1042416" cy="73025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BF27D0C-7AEA-17A6-61FD-6008C39A3A9E}"/>
                </a:ext>
              </a:extLst>
            </p:cNvPr>
            <p:cNvSpPr/>
            <p:nvPr/>
          </p:nvSpPr>
          <p:spPr>
            <a:xfrm>
              <a:off x="0" y="0"/>
              <a:ext cx="1042414" cy="730250"/>
            </a:xfrm>
            <a:custGeom>
              <a:avLst/>
              <a:gdLst/>
              <a:ahLst/>
              <a:cxnLst/>
              <a:rect l="l" t="t" r="r" b="b"/>
              <a:pathLst>
                <a:path w="1042414" h="730250">
                  <a:moveTo>
                    <a:pt x="0" y="0"/>
                  </a:moveTo>
                  <a:lnTo>
                    <a:pt x="1042414" y="0"/>
                  </a:lnTo>
                  <a:lnTo>
                    <a:pt x="104241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81" r="-39881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55A82255-DDCB-A970-07C7-808DBC3BC580}"/>
                </a:ext>
              </a:extLst>
            </p:cNvPr>
            <p:cNvSpPr txBox="1"/>
            <p:nvPr/>
          </p:nvSpPr>
          <p:spPr>
            <a:xfrm>
              <a:off x="0" y="-19050"/>
              <a:ext cx="1042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43141"/>
                  </a:solidFill>
                  <a:latin typeface="Play"/>
                  <a:ea typeface="Play"/>
                  <a:cs typeface="Play"/>
                  <a:sym typeface="Play"/>
                </a:rPr>
                <a:t>‹#›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79F2EED9-33E6-2DFD-0D6D-05B03C6A7AD1}"/>
              </a:ext>
            </a:extLst>
          </p:cNvPr>
          <p:cNvSpPr txBox="1"/>
          <p:nvPr/>
        </p:nvSpPr>
        <p:spPr>
          <a:xfrm rot="5400000">
            <a:off x="-4289265" y="5882111"/>
            <a:ext cx="8963416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Pesquisa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7967D059-D249-57E9-502F-E5015D378680}"/>
              </a:ext>
            </a:extLst>
          </p:cNvPr>
          <p:cNvSpPr/>
          <p:nvPr/>
        </p:nvSpPr>
        <p:spPr>
          <a:xfrm rot="8250539">
            <a:off x="34528" y="973741"/>
            <a:ext cx="1875663" cy="0"/>
          </a:xfrm>
          <a:prstGeom prst="line">
            <a:avLst/>
          </a:prstGeom>
          <a:ln w="19050" cap="rnd">
            <a:solidFill>
              <a:srgbClr val="3345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2B97E44-8A3C-BD90-CB4D-75A21546A1C1}"/>
              </a:ext>
            </a:extLst>
          </p:cNvPr>
          <p:cNvGrpSpPr/>
          <p:nvPr/>
        </p:nvGrpSpPr>
        <p:grpSpPr>
          <a:xfrm>
            <a:off x="-155534" y="8870823"/>
            <a:ext cx="1860937" cy="1860937"/>
            <a:chOff x="0" y="0"/>
            <a:chExt cx="2481250" cy="2481250"/>
          </a:xfrm>
        </p:grpSpPr>
        <p:sp>
          <p:nvSpPr>
            <p:cNvPr id="15" name="Freeform 15" descr="Logotipo  Descrição gerada automaticamente">
              <a:extLst>
                <a:ext uri="{FF2B5EF4-FFF2-40B4-BE49-F238E27FC236}">
                  <a16:creationId xmlns:a16="http://schemas.microsoft.com/office/drawing/2014/main" id="{7B1DC720-2CCD-2365-0B8D-77C5A471CE18}"/>
                </a:ext>
              </a:extLst>
            </p:cNvPr>
            <p:cNvSpPr/>
            <p:nvPr/>
          </p:nvSpPr>
          <p:spPr>
            <a:xfrm>
              <a:off x="0" y="0"/>
              <a:ext cx="2481199" cy="2481199"/>
            </a:xfrm>
            <a:custGeom>
              <a:avLst/>
              <a:gdLst/>
              <a:ahLst/>
              <a:cxnLst/>
              <a:rect l="l" t="t" r="r" b="b"/>
              <a:pathLst>
                <a:path w="2481199" h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" b="-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5BDD5F99-79CD-9C18-72A8-F50530C6775A}"/>
              </a:ext>
            </a:extLst>
          </p:cNvPr>
          <p:cNvSpPr txBox="1"/>
          <p:nvPr/>
        </p:nvSpPr>
        <p:spPr>
          <a:xfrm>
            <a:off x="1796834" y="130788"/>
            <a:ext cx="8990571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 Digital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2F3F4DD-21B2-AC8B-8323-88A380419292}"/>
              </a:ext>
            </a:extLst>
          </p:cNvPr>
          <p:cNvSpPr txBox="1"/>
          <p:nvPr/>
        </p:nvSpPr>
        <p:spPr>
          <a:xfrm>
            <a:off x="1796834" y="2924175"/>
            <a:ext cx="13896163" cy="3040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0375" lvl="1" algn="just">
              <a:lnSpc>
                <a:spcPts val="4784"/>
              </a:lnSpc>
            </a:pPr>
            <a:r>
              <a:rPr lang="pt-BR" sz="398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Uso de Inteligência Artificial</a:t>
            </a:r>
          </a:p>
          <a:p>
            <a:pPr marL="1001875" lvl="1" indent="-571500" algn="just">
              <a:lnSpc>
                <a:spcPts val="4784"/>
              </a:lnSpc>
              <a:buFont typeface="Arial" panose="020B0604020202020204" pitchFamily="34" charset="0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80% já utilizaram ferramentas de IA generativa.</a:t>
            </a:r>
          </a:p>
          <a:p>
            <a:pPr marL="1001875" lvl="1" indent="-571500" algn="just">
              <a:lnSpc>
                <a:spcPts val="4784"/>
              </a:lnSpc>
              <a:buFont typeface="Arial" panose="020B0604020202020204" pitchFamily="34" charset="0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45% usam IA diariamente.</a:t>
            </a:r>
          </a:p>
          <a:p>
            <a:pPr marL="1001875" lvl="1" indent="-571500" algn="just">
              <a:lnSpc>
                <a:spcPts val="4784"/>
              </a:lnSpc>
              <a:buFont typeface="Arial" panose="020B0604020202020204" pitchFamily="34" charset="0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64% confiam apenas parcialmente nas respostas da IA.</a:t>
            </a:r>
          </a:p>
          <a:p>
            <a:pPr marL="1001875" lvl="1" indent="-571500" algn="just">
              <a:lnSpc>
                <a:spcPts val="4784"/>
              </a:lnSpc>
              <a:buFont typeface="Arial" panose="020B0604020202020204" pitchFamily="34" charset="0"/>
              <a:buChar char="•"/>
            </a:pPr>
            <a:r>
              <a:rPr lang="pt-BR" sz="398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23% nunca verificam as respostas fornecidas por IA.</a:t>
            </a:r>
            <a:endParaRPr lang="en-US" sz="398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7552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90238"/>
            <a:chOff x="0" y="0"/>
            <a:chExt cx="24384000" cy="137203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20318"/>
            </a:xfrm>
            <a:custGeom>
              <a:avLst/>
              <a:gdLst/>
              <a:ahLst/>
              <a:cxnLst/>
              <a:rect l="l" t="t" r="r" b="b"/>
              <a:pathLst>
                <a:path w="24384000" h="13720318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  <p:txBody>
            <a:bodyPr/>
            <a:lstStyle/>
            <a:p>
              <a:endParaRPr lang="pt-BR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0818" y="1051272"/>
            <a:ext cx="14942582" cy="1130949"/>
            <a:chOff x="0" y="0"/>
            <a:chExt cx="19923442" cy="15079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923438" cy="1507929"/>
            </a:xfrm>
            <a:custGeom>
              <a:avLst/>
              <a:gdLst/>
              <a:ahLst/>
              <a:cxnLst/>
              <a:rect l="l" t="t" r="r" b="b"/>
              <a:pathLst>
                <a:path w="19923438" h="1507929">
                  <a:moveTo>
                    <a:pt x="0" y="0"/>
                  </a:moveTo>
                  <a:lnTo>
                    <a:pt x="19923438" y="0"/>
                  </a:lnTo>
                  <a:lnTo>
                    <a:pt x="19923438" y="1507929"/>
                  </a:lnTo>
                  <a:lnTo>
                    <a:pt x="0" y="1507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44" b="-207445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9923442" cy="152698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759"/>
                </a:lnSpc>
              </a:pPr>
              <a:r>
                <a:rPr lang="en-US" sz="4800" b="1" dirty="0">
                  <a:solidFill>
                    <a:srgbClr val="3345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ANÁLISE GERAL DOS DADOS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50924" y="0"/>
            <a:ext cx="2437076" cy="10287000"/>
            <a:chOff x="0" y="0"/>
            <a:chExt cx="3249435" cy="1371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49422" cy="13716000"/>
            </a:xfrm>
            <a:custGeom>
              <a:avLst/>
              <a:gdLst/>
              <a:ahLst/>
              <a:cxnLst/>
              <a:rect l="l" t="t" r="r" b="b"/>
              <a:pathLst>
                <a:path w="3249422" h="13716000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2817" r="-647509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145000" y="9534525"/>
            <a:ext cx="781812" cy="547688"/>
            <a:chOff x="0" y="0"/>
            <a:chExt cx="1042416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2414" cy="730250"/>
            </a:xfrm>
            <a:custGeom>
              <a:avLst/>
              <a:gdLst/>
              <a:ahLst/>
              <a:cxnLst/>
              <a:rect l="l" t="t" r="r" b="b"/>
              <a:pathLst>
                <a:path w="1042414" h="730250">
                  <a:moveTo>
                    <a:pt x="0" y="0"/>
                  </a:moveTo>
                  <a:lnTo>
                    <a:pt x="1042414" y="0"/>
                  </a:lnTo>
                  <a:lnTo>
                    <a:pt x="104241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81" r="-39881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042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520"/>
                </a:lnSpc>
              </a:pPr>
              <a:r>
                <a:rPr lang="en-US" sz="2100" dirty="0">
                  <a:solidFill>
                    <a:srgbClr val="243141"/>
                  </a:solidFill>
                  <a:latin typeface="Play"/>
                  <a:ea typeface="Play"/>
                  <a:cs typeface="Play"/>
                  <a:sym typeface="Play"/>
                </a:rPr>
                <a:t>‹#›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 rot="5400000">
            <a:off x="-4289265" y="5882111"/>
            <a:ext cx="8963416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Pesquisa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796834" y="130788"/>
            <a:ext cx="8990571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 Digital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 rot="8250539">
            <a:off x="34528" y="973741"/>
            <a:ext cx="1875663" cy="0"/>
          </a:xfrm>
          <a:prstGeom prst="line">
            <a:avLst/>
          </a:prstGeom>
          <a:ln w="19050" cap="rnd">
            <a:solidFill>
              <a:srgbClr val="3345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15" name="Group 15"/>
          <p:cNvGrpSpPr/>
          <p:nvPr/>
        </p:nvGrpSpPr>
        <p:grpSpPr>
          <a:xfrm>
            <a:off x="-155534" y="8870823"/>
            <a:ext cx="1860937" cy="1860937"/>
            <a:chOff x="0" y="0"/>
            <a:chExt cx="2481250" cy="2481250"/>
          </a:xfrm>
        </p:grpSpPr>
        <p:sp>
          <p:nvSpPr>
            <p:cNvPr id="16" name="Freeform 16" descr="Logotipo  Descrição gerada automaticamente"/>
            <p:cNvSpPr/>
            <p:nvPr/>
          </p:nvSpPr>
          <p:spPr>
            <a:xfrm>
              <a:off x="0" y="0"/>
              <a:ext cx="2481199" cy="2481199"/>
            </a:xfrm>
            <a:custGeom>
              <a:avLst/>
              <a:gdLst/>
              <a:ahLst/>
              <a:cxnLst/>
              <a:rect l="l" t="t" r="r" b="b"/>
              <a:pathLst>
                <a:path w="2481199" h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" b="-2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528452" y="2862476"/>
            <a:ext cx="14023559" cy="346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lnSpc>
                <a:spcPts val="4513"/>
              </a:lnSpc>
              <a:buFont typeface="Arial" panose="020B0604020202020204" pitchFamily="34" charset="0"/>
              <a:buChar char="•"/>
            </a:pP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usuários estão cada vez mais conectados.</a:t>
            </a:r>
          </a:p>
          <a:p>
            <a:pPr marL="571500" indent="-571500">
              <a:lnSpc>
                <a:spcPts val="4513"/>
              </a:lnSpc>
              <a:buFont typeface="Arial" panose="020B0604020202020204" pitchFamily="34" charset="0"/>
              <a:buChar char="•"/>
            </a:pP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Existe preocupação com segurança e privacidade.</a:t>
            </a:r>
          </a:p>
          <a:p>
            <a:pPr marL="571500" indent="-571500">
              <a:lnSpc>
                <a:spcPts val="4513"/>
              </a:lnSpc>
              <a:buFont typeface="Arial" panose="020B0604020202020204" pitchFamily="34" charset="0"/>
              <a:buChar char="•"/>
            </a:pP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Essa preocupação nem sempre se transforma em hábitos seguros.</a:t>
            </a:r>
          </a:p>
          <a:p>
            <a:pPr marL="571500" indent="-571500">
              <a:lnSpc>
                <a:spcPts val="4513"/>
              </a:lnSpc>
              <a:buFont typeface="Arial" panose="020B0604020202020204" pitchFamily="34" charset="0"/>
              <a:buChar char="•"/>
            </a:pP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celular é o principal ponto de risco.</a:t>
            </a:r>
          </a:p>
          <a:p>
            <a:pPr marL="571500" indent="-571500">
              <a:lnSpc>
                <a:spcPts val="4513"/>
              </a:lnSpc>
              <a:buFont typeface="Arial" panose="020B0604020202020204" pitchFamily="34" charset="0"/>
              <a:buChar char="•"/>
            </a:pP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Educação digital é essencial para reduzir vulnerabilidades.</a:t>
            </a:r>
            <a:endParaRPr lang="en-US" sz="376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50AFF-95F2-3178-3D6A-B1E158A07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703E7F3-E824-4B10-5BFB-49CA10E523DD}"/>
              </a:ext>
            </a:extLst>
          </p:cNvPr>
          <p:cNvGrpSpPr/>
          <p:nvPr/>
        </p:nvGrpSpPr>
        <p:grpSpPr>
          <a:xfrm>
            <a:off x="0" y="0"/>
            <a:ext cx="18288000" cy="10290238"/>
            <a:chOff x="0" y="0"/>
            <a:chExt cx="24384000" cy="137203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979C9DE-51C5-8189-AC15-1FDB7E6CC319}"/>
                </a:ext>
              </a:extLst>
            </p:cNvPr>
            <p:cNvSpPr/>
            <p:nvPr/>
          </p:nvSpPr>
          <p:spPr>
            <a:xfrm>
              <a:off x="0" y="0"/>
              <a:ext cx="24384000" cy="13720318"/>
            </a:xfrm>
            <a:custGeom>
              <a:avLst/>
              <a:gdLst/>
              <a:ahLst/>
              <a:cxnLst/>
              <a:rect l="l" t="t" r="r" b="b"/>
              <a:pathLst>
                <a:path w="24384000" h="13720318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  <p:txBody>
            <a:bodyPr/>
            <a:lstStyle/>
            <a:p>
              <a:endParaRPr lang="pt-BR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3E8AEA77-71BC-42AD-9185-CC29516F1CE9}"/>
              </a:ext>
            </a:extLst>
          </p:cNvPr>
          <p:cNvGrpSpPr/>
          <p:nvPr/>
        </p:nvGrpSpPr>
        <p:grpSpPr>
          <a:xfrm>
            <a:off x="280818" y="1051272"/>
            <a:ext cx="14942582" cy="1130949"/>
            <a:chOff x="0" y="0"/>
            <a:chExt cx="19923442" cy="15079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B8EB368-19E5-2942-E266-2D193E62BA2B}"/>
                </a:ext>
              </a:extLst>
            </p:cNvPr>
            <p:cNvSpPr/>
            <p:nvPr/>
          </p:nvSpPr>
          <p:spPr>
            <a:xfrm>
              <a:off x="0" y="0"/>
              <a:ext cx="19923438" cy="1507929"/>
            </a:xfrm>
            <a:custGeom>
              <a:avLst/>
              <a:gdLst/>
              <a:ahLst/>
              <a:cxnLst/>
              <a:rect l="l" t="t" r="r" b="b"/>
              <a:pathLst>
                <a:path w="19923438" h="1507929">
                  <a:moveTo>
                    <a:pt x="0" y="0"/>
                  </a:moveTo>
                  <a:lnTo>
                    <a:pt x="19923438" y="0"/>
                  </a:lnTo>
                  <a:lnTo>
                    <a:pt x="19923438" y="1507929"/>
                  </a:lnTo>
                  <a:lnTo>
                    <a:pt x="0" y="1507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44" b="-207445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7CB5705-B0FA-75BD-0EC6-22AD9131B8CA}"/>
                </a:ext>
              </a:extLst>
            </p:cNvPr>
            <p:cNvSpPr txBox="1"/>
            <p:nvPr/>
          </p:nvSpPr>
          <p:spPr>
            <a:xfrm>
              <a:off x="0" y="-19050"/>
              <a:ext cx="19923442" cy="152698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759"/>
                </a:lnSpc>
              </a:pPr>
              <a:r>
                <a:rPr lang="en-US" sz="4800" b="1" dirty="0">
                  <a:solidFill>
                    <a:srgbClr val="3345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CONTRIBUIÇÃO SOCIAL E ODS</a:t>
              </a: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01B8E21A-0847-A4AD-5B14-03AC2480A094}"/>
              </a:ext>
            </a:extLst>
          </p:cNvPr>
          <p:cNvGrpSpPr/>
          <p:nvPr/>
        </p:nvGrpSpPr>
        <p:grpSpPr>
          <a:xfrm>
            <a:off x="17322004" y="0"/>
            <a:ext cx="2437076" cy="10287000"/>
            <a:chOff x="0" y="0"/>
            <a:chExt cx="3249435" cy="137160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23B9CF6-3879-557F-5EA3-0F4940349353}"/>
                </a:ext>
              </a:extLst>
            </p:cNvPr>
            <p:cNvSpPr/>
            <p:nvPr/>
          </p:nvSpPr>
          <p:spPr>
            <a:xfrm>
              <a:off x="0" y="0"/>
              <a:ext cx="3249422" cy="13716000"/>
            </a:xfrm>
            <a:custGeom>
              <a:avLst/>
              <a:gdLst/>
              <a:ahLst/>
              <a:cxnLst/>
              <a:rect l="l" t="t" r="r" b="b"/>
              <a:pathLst>
                <a:path w="3249422" h="13716000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2817" r="-647509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F9B007A2-31D7-531A-69F7-DDA481C43A2E}"/>
              </a:ext>
            </a:extLst>
          </p:cNvPr>
          <p:cNvGrpSpPr/>
          <p:nvPr/>
        </p:nvGrpSpPr>
        <p:grpSpPr>
          <a:xfrm>
            <a:off x="17145000" y="9534525"/>
            <a:ext cx="781812" cy="547688"/>
            <a:chOff x="0" y="0"/>
            <a:chExt cx="1042416" cy="73025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D4383FA-EF3F-BC99-48D9-9F5A1F438420}"/>
                </a:ext>
              </a:extLst>
            </p:cNvPr>
            <p:cNvSpPr/>
            <p:nvPr/>
          </p:nvSpPr>
          <p:spPr>
            <a:xfrm>
              <a:off x="0" y="0"/>
              <a:ext cx="1042414" cy="730250"/>
            </a:xfrm>
            <a:custGeom>
              <a:avLst/>
              <a:gdLst/>
              <a:ahLst/>
              <a:cxnLst/>
              <a:rect l="l" t="t" r="r" b="b"/>
              <a:pathLst>
                <a:path w="1042414" h="730250">
                  <a:moveTo>
                    <a:pt x="0" y="0"/>
                  </a:moveTo>
                  <a:lnTo>
                    <a:pt x="1042414" y="0"/>
                  </a:lnTo>
                  <a:lnTo>
                    <a:pt x="104241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81" r="-39881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344588E-7AB0-C7A6-89A2-8E009D2BD4B8}"/>
                </a:ext>
              </a:extLst>
            </p:cNvPr>
            <p:cNvSpPr txBox="1"/>
            <p:nvPr/>
          </p:nvSpPr>
          <p:spPr>
            <a:xfrm>
              <a:off x="0" y="-19050"/>
              <a:ext cx="1042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520"/>
                </a:lnSpc>
              </a:pPr>
              <a:r>
                <a:rPr lang="en-US" sz="2100" dirty="0">
                  <a:solidFill>
                    <a:srgbClr val="243141"/>
                  </a:solidFill>
                  <a:latin typeface="Play"/>
                  <a:ea typeface="Play"/>
                  <a:cs typeface="Play"/>
                  <a:sym typeface="Play"/>
                </a:rPr>
                <a:t>‹#›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D5ADC048-DB17-1BDF-6837-4212A77F3CE4}"/>
              </a:ext>
            </a:extLst>
          </p:cNvPr>
          <p:cNvSpPr txBox="1"/>
          <p:nvPr/>
        </p:nvSpPr>
        <p:spPr>
          <a:xfrm rot="5400000">
            <a:off x="-4289265" y="5882111"/>
            <a:ext cx="8963416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Pesquisa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DFD086C-364F-D34E-CE20-3551178261B6}"/>
              </a:ext>
            </a:extLst>
          </p:cNvPr>
          <p:cNvSpPr txBox="1"/>
          <p:nvPr/>
        </p:nvSpPr>
        <p:spPr>
          <a:xfrm>
            <a:off x="1796834" y="130788"/>
            <a:ext cx="8990571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 Digital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806E9824-4496-7B72-AA9C-076F3A51C960}"/>
              </a:ext>
            </a:extLst>
          </p:cNvPr>
          <p:cNvSpPr/>
          <p:nvPr/>
        </p:nvSpPr>
        <p:spPr>
          <a:xfrm rot="8250539">
            <a:off x="34528" y="973741"/>
            <a:ext cx="1875663" cy="0"/>
          </a:xfrm>
          <a:prstGeom prst="line">
            <a:avLst/>
          </a:prstGeom>
          <a:ln w="19050" cap="rnd">
            <a:solidFill>
              <a:srgbClr val="3345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19BFC378-0256-1453-9E7A-ED541A04F3CE}"/>
              </a:ext>
            </a:extLst>
          </p:cNvPr>
          <p:cNvGrpSpPr/>
          <p:nvPr/>
        </p:nvGrpSpPr>
        <p:grpSpPr>
          <a:xfrm>
            <a:off x="-155534" y="8870823"/>
            <a:ext cx="1860937" cy="1860937"/>
            <a:chOff x="0" y="0"/>
            <a:chExt cx="2481250" cy="2481250"/>
          </a:xfrm>
        </p:grpSpPr>
        <p:sp>
          <p:nvSpPr>
            <p:cNvPr id="16" name="Freeform 16" descr="Logotipo  Descrição gerada automaticamente">
              <a:extLst>
                <a:ext uri="{FF2B5EF4-FFF2-40B4-BE49-F238E27FC236}">
                  <a16:creationId xmlns:a16="http://schemas.microsoft.com/office/drawing/2014/main" id="{78CD56FC-1D29-2065-CC73-C4971FA067D5}"/>
                </a:ext>
              </a:extLst>
            </p:cNvPr>
            <p:cNvSpPr/>
            <p:nvPr/>
          </p:nvSpPr>
          <p:spPr>
            <a:xfrm>
              <a:off x="0" y="0"/>
              <a:ext cx="2481199" cy="2481199"/>
            </a:xfrm>
            <a:custGeom>
              <a:avLst/>
              <a:gdLst/>
              <a:ahLst/>
              <a:cxnLst/>
              <a:rect l="l" t="t" r="r" b="b"/>
              <a:pathLst>
                <a:path w="2481199" h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" b="-2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FA9F221E-F776-430F-7DF6-7E80C67CEB13}"/>
              </a:ext>
            </a:extLst>
          </p:cNvPr>
          <p:cNvSpPr txBox="1"/>
          <p:nvPr/>
        </p:nvSpPr>
        <p:spPr>
          <a:xfrm>
            <a:off x="1528453" y="2550566"/>
            <a:ext cx="7615548" cy="69249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13"/>
              </a:lnSpc>
            </a:pPr>
            <a:r>
              <a:rPr lang="pt-BR" sz="376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Contribuição Social:</a:t>
            </a:r>
          </a:p>
          <a:p>
            <a:pPr>
              <a:lnSpc>
                <a:spcPts val="4513"/>
              </a:lnSpc>
            </a:pPr>
            <a:endParaRPr lang="pt-BR" sz="376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1500" indent="-571500">
              <a:lnSpc>
                <a:spcPts val="4513"/>
              </a:lnSpc>
              <a:buFont typeface="Arial" panose="020B0604020202020204" pitchFamily="34" charset="0"/>
              <a:buChar char="•"/>
            </a:pP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Democratização do acesso à informação sobre segurança digital.</a:t>
            </a:r>
          </a:p>
          <a:p>
            <a:pPr marL="571500" indent="-571500">
              <a:lnSpc>
                <a:spcPts val="4513"/>
              </a:lnSpc>
              <a:buFont typeface="Arial" panose="020B0604020202020204" pitchFamily="34" charset="0"/>
              <a:buChar char="•"/>
            </a:pP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Incentivo a práticas mais seguras na internet.</a:t>
            </a:r>
          </a:p>
          <a:p>
            <a:pPr marL="571500" indent="-571500">
              <a:lnSpc>
                <a:spcPts val="4513"/>
              </a:lnSpc>
              <a:buFont typeface="Arial" panose="020B0604020202020204" pitchFamily="34" charset="0"/>
              <a:buChar char="•"/>
            </a:pP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Uso de tecnologia para educação e conscientização.</a:t>
            </a:r>
          </a:p>
          <a:p>
            <a:pPr marL="571500" indent="-571500">
              <a:lnSpc>
                <a:spcPts val="4513"/>
              </a:lnSpc>
              <a:buFont typeface="Arial" panose="020B0604020202020204" pitchFamily="34" charset="0"/>
              <a:buChar char="•"/>
            </a:pP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Contribuição para os Objetivos de Desenvolvimento Sustentável.</a:t>
            </a:r>
            <a:endParaRPr lang="en-US" sz="376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E0CF6C-71EA-DDEC-FCB9-634BA1FF16A2}"/>
              </a:ext>
            </a:extLst>
          </p:cNvPr>
          <p:cNvSpPr txBox="1"/>
          <p:nvPr/>
        </p:nvSpPr>
        <p:spPr>
          <a:xfrm>
            <a:off x="9529452" y="2528452"/>
            <a:ext cx="7615548" cy="4039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13"/>
              </a:lnSpc>
            </a:pPr>
            <a:r>
              <a:rPr lang="pt-BR" sz="376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ODS Relacionados:</a:t>
            </a:r>
          </a:p>
          <a:p>
            <a:pPr>
              <a:lnSpc>
                <a:spcPts val="4513"/>
              </a:lnSpc>
            </a:pPr>
            <a:endParaRPr lang="pt-BR" sz="376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1500" indent="-571500">
              <a:lnSpc>
                <a:spcPts val="4513"/>
              </a:lnSpc>
              <a:buFont typeface="Arial" panose="020B0604020202020204" pitchFamily="34" charset="0"/>
              <a:buChar char="•"/>
            </a:pPr>
            <a:r>
              <a:rPr lang="pt-BR" sz="376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ODS 4</a:t>
            </a: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Educação de Qualidade.</a:t>
            </a:r>
          </a:p>
          <a:p>
            <a:pPr marL="571500" indent="-571500">
              <a:lnSpc>
                <a:spcPts val="4513"/>
              </a:lnSpc>
              <a:buFont typeface="Arial" panose="020B0604020202020204" pitchFamily="34" charset="0"/>
              <a:buChar char="•"/>
            </a:pPr>
            <a:r>
              <a:rPr lang="pt-BR" sz="376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ODS 9</a:t>
            </a: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Indústria, Inovação e Infraestrutura.</a:t>
            </a:r>
          </a:p>
          <a:p>
            <a:pPr marL="571500" indent="-571500">
              <a:lnSpc>
                <a:spcPts val="4513"/>
              </a:lnSpc>
              <a:buFont typeface="Arial" panose="020B0604020202020204" pitchFamily="34" charset="0"/>
              <a:buChar char="•"/>
            </a:pPr>
            <a:r>
              <a:rPr lang="pt-BR" sz="376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ODS 16</a:t>
            </a:r>
            <a:r>
              <a:rPr lang="pt-BR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Paz, Justiça e Instituições Eficazes.</a:t>
            </a:r>
            <a:endParaRPr lang="en-US" sz="376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2A4A5E5-E240-39A1-0E9F-36FE9B39409A}"/>
              </a:ext>
            </a:extLst>
          </p:cNvPr>
          <p:cNvSpPr txBox="1"/>
          <p:nvPr/>
        </p:nvSpPr>
        <p:spPr>
          <a:xfrm>
            <a:off x="4650205" y="4435460"/>
            <a:ext cx="10070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</p:txBody>
      </p:sp>
      <p:pic>
        <p:nvPicPr>
          <p:cNvPr id="21" name="Imagem 20" descr="Ods Logo">
            <a:extLst>
              <a:ext uri="{FF2B5EF4-FFF2-40B4-BE49-F238E27FC236}">
                <a16:creationId xmlns:a16="http://schemas.microsoft.com/office/drawing/2014/main" id="{E7965CB0-8715-6CBA-2D75-EE8ABE107D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624" y="6976069"/>
            <a:ext cx="4150013" cy="295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526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90238"/>
            <a:chOff x="0" y="0"/>
            <a:chExt cx="24384000" cy="137203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20318"/>
            </a:xfrm>
            <a:custGeom>
              <a:avLst/>
              <a:gdLst/>
              <a:ahLst/>
              <a:cxnLst/>
              <a:rect l="l" t="t" r="r" b="b"/>
              <a:pathLst>
                <a:path w="24384000" h="13720318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0279" y="6301211"/>
            <a:ext cx="4587442" cy="3429295"/>
            <a:chOff x="0" y="0"/>
            <a:chExt cx="6116590" cy="45723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116602" cy="4572381"/>
            </a:xfrm>
            <a:custGeom>
              <a:avLst/>
              <a:gdLst/>
              <a:ahLst/>
              <a:cxnLst/>
              <a:rect l="l" t="t" r="r" b="b"/>
              <a:pathLst>
                <a:path w="6116602" h="4572381">
                  <a:moveTo>
                    <a:pt x="0" y="0"/>
                  </a:moveTo>
                  <a:lnTo>
                    <a:pt x="6116602" y="0"/>
                  </a:lnTo>
                  <a:lnTo>
                    <a:pt x="6116602" y="4572381"/>
                  </a:lnTo>
                  <a:lnTo>
                    <a:pt x="0" y="4572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6046" b="-14397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5404" y="6301211"/>
            <a:ext cx="4653810" cy="3429295"/>
            <a:chOff x="0" y="0"/>
            <a:chExt cx="6205080" cy="45723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205093" cy="4572381"/>
            </a:xfrm>
            <a:custGeom>
              <a:avLst/>
              <a:gdLst/>
              <a:ahLst/>
              <a:cxnLst/>
              <a:rect l="l" t="t" r="r" b="b"/>
              <a:pathLst>
                <a:path w="6205093" h="4572381">
                  <a:moveTo>
                    <a:pt x="0" y="0"/>
                  </a:moveTo>
                  <a:lnTo>
                    <a:pt x="6205093" y="0"/>
                  </a:lnTo>
                  <a:lnTo>
                    <a:pt x="6205093" y="4572381"/>
                  </a:lnTo>
                  <a:lnTo>
                    <a:pt x="0" y="4572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1629" b="-15258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038703" y="2139267"/>
            <a:ext cx="4653810" cy="3429295"/>
            <a:chOff x="0" y="0"/>
            <a:chExt cx="6205080" cy="45723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205093" cy="4572381"/>
            </a:xfrm>
            <a:custGeom>
              <a:avLst/>
              <a:gdLst/>
              <a:ahLst/>
              <a:cxnLst/>
              <a:rect l="l" t="t" r="r" b="b"/>
              <a:pathLst>
                <a:path w="6205093" h="4572381">
                  <a:moveTo>
                    <a:pt x="0" y="0"/>
                  </a:moveTo>
                  <a:lnTo>
                    <a:pt x="6205093" y="0"/>
                  </a:lnTo>
                  <a:lnTo>
                    <a:pt x="6205093" y="4572381"/>
                  </a:lnTo>
                  <a:lnTo>
                    <a:pt x="0" y="4572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221" t="-20697" r="-51962" b="-3870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6472" y="2138848"/>
            <a:ext cx="4653810" cy="3429295"/>
            <a:chOff x="0" y="0"/>
            <a:chExt cx="6205080" cy="457239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05093" cy="4572381"/>
            </a:xfrm>
            <a:custGeom>
              <a:avLst/>
              <a:gdLst/>
              <a:ahLst/>
              <a:cxnLst/>
              <a:rect l="l" t="t" r="r" b="b"/>
              <a:pathLst>
                <a:path w="6205093" h="4572381">
                  <a:moveTo>
                    <a:pt x="0" y="0"/>
                  </a:moveTo>
                  <a:lnTo>
                    <a:pt x="6205093" y="0"/>
                  </a:lnTo>
                  <a:lnTo>
                    <a:pt x="6205093" y="4572381"/>
                  </a:lnTo>
                  <a:lnTo>
                    <a:pt x="0" y="4572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8808" t="-64865" r="-69870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38156" y="922115"/>
            <a:ext cx="14942696" cy="993803"/>
            <a:chOff x="0" y="0"/>
            <a:chExt cx="19923595" cy="132507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923599" cy="1325073"/>
            </a:xfrm>
            <a:custGeom>
              <a:avLst/>
              <a:gdLst/>
              <a:ahLst/>
              <a:cxnLst/>
              <a:rect l="l" t="t" r="r" b="b"/>
              <a:pathLst>
                <a:path w="19923599" h="1325073">
                  <a:moveTo>
                    <a:pt x="0" y="0"/>
                  </a:moveTo>
                  <a:lnTo>
                    <a:pt x="19923599" y="0"/>
                  </a:lnTo>
                  <a:lnTo>
                    <a:pt x="19923599" y="1325073"/>
                  </a:lnTo>
                  <a:lnTo>
                    <a:pt x="0" y="132507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52425" b="-233522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38100"/>
              <a:ext cx="19923595" cy="128697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184"/>
                </a:lnSpc>
              </a:pPr>
              <a:r>
                <a:rPr lang="en-US" sz="4800" b="1">
                  <a:solidFill>
                    <a:srgbClr val="3345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EVIDÊNCIAS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850924" y="0"/>
            <a:ext cx="2437076" cy="10287000"/>
            <a:chOff x="0" y="0"/>
            <a:chExt cx="3249435" cy="13716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249422" cy="13716000"/>
            </a:xfrm>
            <a:custGeom>
              <a:avLst/>
              <a:gdLst/>
              <a:ahLst/>
              <a:cxnLst/>
              <a:rect l="l" t="t" r="r" b="b"/>
              <a:pathLst>
                <a:path w="3249422" h="13716000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2817" r="-647509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9" name="TextBox 19"/>
          <p:cNvSpPr txBox="1"/>
          <p:nvPr/>
        </p:nvSpPr>
        <p:spPr>
          <a:xfrm rot="5400000">
            <a:off x="-4289265" y="5882111"/>
            <a:ext cx="8963416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Pesquisa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AutoShape 20"/>
          <p:cNvSpPr/>
          <p:nvPr/>
        </p:nvSpPr>
        <p:spPr>
          <a:xfrm rot="8250539">
            <a:off x="34528" y="973741"/>
            <a:ext cx="1875663" cy="0"/>
          </a:xfrm>
          <a:prstGeom prst="line">
            <a:avLst/>
          </a:prstGeom>
          <a:ln w="19050" cap="rnd">
            <a:solidFill>
              <a:srgbClr val="3345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21" name="Group 21"/>
          <p:cNvGrpSpPr/>
          <p:nvPr/>
        </p:nvGrpSpPr>
        <p:grpSpPr>
          <a:xfrm>
            <a:off x="-155534" y="8870823"/>
            <a:ext cx="1860937" cy="1860937"/>
            <a:chOff x="0" y="0"/>
            <a:chExt cx="2481250" cy="2481250"/>
          </a:xfrm>
        </p:grpSpPr>
        <p:sp>
          <p:nvSpPr>
            <p:cNvPr id="22" name="Freeform 22" descr="Logotipo  Descrição gerada automaticamente"/>
            <p:cNvSpPr/>
            <p:nvPr/>
          </p:nvSpPr>
          <p:spPr>
            <a:xfrm>
              <a:off x="0" y="0"/>
              <a:ext cx="2481199" cy="2481199"/>
            </a:xfrm>
            <a:custGeom>
              <a:avLst/>
              <a:gdLst/>
              <a:ahLst/>
              <a:cxnLst/>
              <a:rect l="l" t="t" r="r" b="b"/>
              <a:pathLst>
                <a:path w="2481199" h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2" b="-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781180" y="6301211"/>
            <a:ext cx="4587442" cy="3429295"/>
            <a:chOff x="0" y="0"/>
            <a:chExt cx="6116590" cy="457239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116602" cy="4572381"/>
            </a:xfrm>
            <a:custGeom>
              <a:avLst/>
              <a:gdLst/>
              <a:ahLst/>
              <a:cxnLst/>
              <a:rect l="l" t="t" r="r" b="b"/>
              <a:pathLst>
                <a:path w="6116602" h="4572381">
                  <a:moveTo>
                    <a:pt x="0" y="0"/>
                  </a:moveTo>
                  <a:lnTo>
                    <a:pt x="6116602" y="0"/>
                  </a:lnTo>
                  <a:lnTo>
                    <a:pt x="6116602" y="4572381"/>
                  </a:lnTo>
                  <a:lnTo>
                    <a:pt x="0" y="4572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23403" b="-16661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796834" y="130788"/>
            <a:ext cx="8990571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 Digital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3EC0347A-983E-FB79-FDFF-39652140CF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1088" y="2138848"/>
            <a:ext cx="3078948" cy="36380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B4C79-A16D-F2E8-98AD-0079C1C88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2FFB3E8-2D8B-95EE-6A5F-C87823A15F70}"/>
              </a:ext>
            </a:extLst>
          </p:cNvPr>
          <p:cNvGrpSpPr/>
          <p:nvPr/>
        </p:nvGrpSpPr>
        <p:grpSpPr>
          <a:xfrm>
            <a:off x="0" y="0"/>
            <a:ext cx="18288000" cy="10290238"/>
            <a:chOff x="0" y="0"/>
            <a:chExt cx="24384000" cy="137203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9B8CCB2-6BAC-E319-9C2B-341567AD8D76}"/>
                </a:ext>
              </a:extLst>
            </p:cNvPr>
            <p:cNvSpPr/>
            <p:nvPr/>
          </p:nvSpPr>
          <p:spPr>
            <a:xfrm>
              <a:off x="0" y="0"/>
              <a:ext cx="24384000" cy="13720318"/>
            </a:xfrm>
            <a:custGeom>
              <a:avLst/>
              <a:gdLst/>
              <a:ahLst/>
              <a:cxnLst/>
              <a:rect l="l" t="t" r="r" b="b"/>
              <a:pathLst>
                <a:path w="24384000" h="13720318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41A0EC9B-4518-82A0-CDF6-0BBE3AABED68}"/>
              </a:ext>
            </a:extLst>
          </p:cNvPr>
          <p:cNvGrpSpPr/>
          <p:nvPr/>
        </p:nvGrpSpPr>
        <p:grpSpPr>
          <a:xfrm>
            <a:off x="638156" y="922115"/>
            <a:ext cx="14942696" cy="993803"/>
            <a:chOff x="0" y="0"/>
            <a:chExt cx="19923595" cy="132507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5719B3A5-A6C2-6AEE-5B2E-651DBC3A8C30}"/>
                </a:ext>
              </a:extLst>
            </p:cNvPr>
            <p:cNvSpPr/>
            <p:nvPr/>
          </p:nvSpPr>
          <p:spPr>
            <a:xfrm>
              <a:off x="0" y="0"/>
              <a:ext cx="19923599" cy="1325073"/>
            </a:xfrm>
            <a:custGeom>
              <a:avLst/>
              <a:gdLst/>
              <a:ahLst/>
              <a:cxnLst/>
              <a:rect l="l" t="t" r="r" b="b"/>
              <a:pathLst>
                <a:path w="19923599" h="1325073">
                  <a:moveTo>
                    <a:pt x="0" y="0"/>
                  </a:moveTo>
                  <a:lnTo>
                    <a:pt x="19923599" y="0"/>
                  </a:lnTo>
                  <a:lnTo>
                    <a:pt x="19923599" y="1325073"/>
                  </a:lnTo>
                  <a:lnTo>
                    <a:pt x="0" y="13250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2425" b="-233522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4F6EB61-41B8-DE97-0F08-A97ED1968A5F}"/>
                </a:ext>
              </a:extLst>
            </p:cNvPr>
            <p:cNvSpPr txBox="1"/>
            <p:nvPr/>
          </p:nvSpPr>
          <p:spPr>
            <a:xfrm>
              <a:off x="0" y="38100"/>
              <a:ext cx="19923595" cy="128697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184"/>
                </a:lnSpc>
              </a:pPr>
              <a:r>
                <a:rPr lang="en-US" sz="4800" b="1">
                  <a:solidFill>
                    <a:srgbClr val="3345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EVIDÊNCIAS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332D3487-D6B2-7407-A6CB-015C53170149}"/>
              </a:ext>
            </a:extLst>
          </p:cNvPr>
          <p:cNvGrpSpPr/>
          <p:nvPr/>
        </p:nvGrpSpPr>
        <p:grpSpPr>
          <a:xfrm>
            <a:off x="17377686" y="0"/>
            <a:ext cx="910314" cy="10287000"/>
            <a:chOff x="0" y="0"/>
            <a:chExt cx="3249435" cy="137160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4BADE8D-0D64-9B90-AB15-F8F6D579ED66}"/>
                </a:ext>
              </a:extLst>
            </p:cNvPr>
            <p:cNvSpPr/>
            <p:nvPr/>
          </p:nvSpPr>
          <p:spPr>
            <a:xfrm>
              <a:off x="0" y="0"/>
              <a:ext cx="3249422" cy="13716000"/>
            </a:xfrm>
            <a:custGeom>
              <a:avLst/>
              <a:gdLst/>
              <a:ahLst/>
              <a:cxnLst/>
              <a:rect l="l" t="t" r="r" b="b"/>
              <a:pathLst>
                <a:path w="3249422" h="13716000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2817" r="-647509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32201CF5-0C14-0D72-53CD-655DBB50D946}"/>
              </a:ext>
            </a:extLst>
          </p:cNvPr>
          <p:cNvSpPr txBox="1"/>
          <p:nvPr/>
        </p:nvSpPr>
        <p:spPr>
          <a:xfrm rot="5400000">
            <a:off x="-4289265" y="5882111"/>
            <a:ext cx="8963416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Pesquisa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FDD931C0-F4E0-F0C4-5030-54A0839EA55F}"/>
              </a:ext>
            </a:extLst>
          </p:cNvPr>
          <p:cNvSpPr/>
          <p:nvPr/>
        </p:nvSpPr>
        <p:spPr>
          <a:xfrm rot="8250539">
            <a:off x="34528" y="973741"/>
            <a:ext cx="1875663" cy="0"/>
          </a:xfrm>
          <a:prstGeom prst="line">
            <a:avLst/>
          </a:prstGeom>
          <a:ln w="19050" cap="rnd">
            <a:solidFill>
              <a:srgbClr val="3345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7C177999-3038-6D48-A48E-893CF05C8E5B}"/>
              </a:ext>
            </a:extLst>
          </p:cNvPr>
          <p:cNvGrpSpPr/>
          <p:nvPr/>
        </p:nvGrpSpPr>
        <p:grpSpPr>
          <a:xfrm>
            <a:off x="-155534" y="8870823"/>
            <a:ext cx="1860937" cy="1860937"/>
            <a:chOff x="0" y="0"/>
            <a:chExt cx="2481250" cy="2481250"/>
          </a:xfrm>
        </p:grpSpPr>
        <p:sp>
          <p:nvSpPr>
            <p:cNvPr id="22" name="Freeform 22" descr="Logotipo  Descrição gerada automaticamente">
              <a:extLst>
                <a:ext uri="{FF2B5EF4-FFF2-40B4-BE49-F238E27FC236}">
                  <a16:creationId xmlns:a16="http://schemas.microsoft.com/office/drawing/2014/main" id="{69F9972B-3990-240B-96C4-B6807D2475C1}"/>
                </a:ext>
              </a:extLst>
            </p:cNvPr>
            <p:cNvSpPr/>
            <p:nvPr/>
          </p:nvSpPr>
          <p:spPr>
            <a:xfrm>
              <a:off x="0" y="0"/>
              <a:ext cx="2481199" cy="2481199"/>
            </a:xfrm>
            <a:custGeom>
              <a:avLst/>
              <a:gdLst/>
              <a:ahLst/>
              <a:cxnLst/>
              <a:rect l="l" t="t" r="r" b="b"/>
              <a:pathLst>
                <a:path w="2481199" h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" b="-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5" name="TextBox 25">
            <a:extLst>
              <a:ext uri="{FF2B5EF4-FFF2-40B4-BE49-F238E27FC236}">
                <a16:creationId xmlns:a16="http://schemas.microsoft.com/office/drawing/2014/main" id="{EFCD960A-B7A4-B0BE-1C82-150E94ACC2AE}"/>
              </a:ext>
            </a:extLst>
          </p:cNvPr>
          <p:cNvSpPr txBox="1"/>
          <p:nvPr/>
        </p:nvSpPr>
        <p:spPr>
          <a:xfrm>
            <a:off x="1796834" y="130788"/>
            <a:ext cx="8990571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 Digital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5703C3BC-68B9-9970-46FD-154EBC3471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4463" y="2497775"/>
            <a:ext cx="7729484" cy="4496111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9652F66F-5FD9-28AD-4B9B-C1CD38746F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4779" y="2497775"/>
            <a:ext cx="7496646" cy="4496111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F938F42A-6E0A-70A2-D11C-A1B06A546A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466" y="3314700"/>
            <a:ext cx="10287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742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32C6B-C602-F9CC-7671-580F9F007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4A56250-9AD8-71C6-D850-DAF40F097D36}"/>
              </a:ext>
            </a:extLst>
          </p:cNvPr>
          <p:cNvGrpSpPr/>
          <p:nvPr/>
        </p:nvGrpSpPr>
        <p:grpSpPr>
          <a:xfrm>
            <a:off x="0" y="0"/>
            <a:ext cx="18288000" cy="10290238"/>
            <a:chOff x="0" y="0"/>
            <a:chExt cx="24384000" cy="137203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449CC57-B9DB-E911-C086-884590DD067F}"/>
                </a:ext>
              </a:extLst>
            </p:cNvPr>
            <p:cNvSpPr/>
            <p:nvPr/>
          </p:nvSpPr>
          <p:spPr>
            <a:xfrm>
              <a:off x="0" y="0"/>
              <a:ext cx="24384000" cy="13720318"/>
            </a:xfrm>
            <a:custGeom>
              <a:avLst/>
              <a:gdLst/>
              <a:ahLst/>
              <a:cxnLst/>
              <a:rect l="l" t="t" r="r" b="b"/>
              <a:pathLst>
                <a:path w="24384000" h="13720318">
                  <a:moveTo>
                    <a:pt x="0" y="0"/>
                  </a:moveTo>
                  <a:lnTo>
                    <a:pt x="24384000" y="0"/>
                  </a:lnTo>
                  <a:lnTo>
                    <a:pt x="24384000" y="13720318"/>
                  </a:lnTo>
                  <a:lnTo>
                    <a:pt x="0" y="13720318"/>
                  </a:lnTo>
                  <a:close/>
                </a:path>
              </a:pathLst>
            </a:custGeom>
            <a:solidFill>
              <a:srgbClr val="A2A5B5">
                <a:alpha val="1961"/>
              </a:srgbClr>
            </a:solidFill>
          </p:spPr>
          <p:txBody>
            <a:bodyPr/>
            <a:lstStyle/>
            <a:p>
              <a:endParaRPr lang="pt-BR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A66925E0-6790-07B9-FDCA-FA3778EBB0C5}"/>
              </a:ext>
            </a:extLst>
          </p:cNvPr>
          <p:cNvGrpSpPr/>
          <p:nvPr/>
        </p:nvGrpSpPr>
        <p:grpSpPr>
          <a:xfrm>
            <a:off x="280818" y="1051272"/>
            <a:ext cx="14942582" cy="1130949"/>
            <a:chOff x="0" y="0"/>
            <a:chExt cx="19923442" cy="15079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18B6648-ED76-5115-AE16-82B2A4E13AB6}"/>
                </a:ext>
              </a:extLst>
            </p:cNvPr>
            <p:cNvSpPr/>
            <p:nvPr/>
          </p:nvSpPr>
          <p:spPr>
            <a:xfrm>
              <a:off x="0" y="0"/>
              <a:ext cx="19923438" cy="1507929"/>
            </a:xfrm>
            <a:custGeom>
              <a:avLst/>
              <a:gdLst/>
              <a:ahLst/>
              <a:cxnLst/>
              <a:rect l="l" t="t" r="r" b="b"/>
              <a:pathLst>
                <a:path w="19923438" h="1507929">
                  <a:moveTo>
                    <a:pt x="0" y="0"/>
                  </a:moveTo>
                  <a:lnTo>
                    <a:pt x="19923438" y="0"/>
                  </a:lnTo>
                  <a:lnTo>
                    <a:pt x="19923438" y="1507929"/>
                  </a:lnTo>
                  <a:lnTo>
                    <a:pt x="0" y="1507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44" b="-207445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0BE507E-8D1B-C034-E55B-8E4D3C1F0F3D}"/>
                </a:ext>
              </a:extLst>
            </p:cNvPr>
            <p:cNvSpPr txBox="1"/>
            <p:nvPr/>
          </p:nvSpPr>
          <p:spPr>
            <a:xfrm>
              <a:off x="0" y="-19050"/>
              <a:ext cx="19923442" cy="152698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759"/>
                </a:lnSpc>
              </a:pPr>
              <a:r>
                <a:rPr lang="en-US" sz="4800" b="1" dirty="0">
                  <a:solidFill>
                    <a:srgbClr val="3345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CONCLUSÃO</a:t>
              </a: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16497391-4209-23A6-8F81-358CE316CC35}"/>
              </a:ext>
            </a:extLst>
          </p:cNvPr>
          <p:cNvGrpSpPr/>
          <p:nvPr/>
        </p:nvGrpSpPr>
        <p:grpSpPr>
          <a:xfrm>
            <a:off x="15850924" y="0"/>
            <a:ext cx="2437076" cy="10287000"/>
            <a:chOff x="0" y="0"/>
            <a:chExt cx="3249435" cy="137160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0E5395E-419F-001A-555F-EBCC98C93826}"/>
                </a:ext>
              </a:extLst>
            </p:cNvPr>
            <p:cNvSpPr/>
            <p:nvPr/>
          </p:nvSpPr>
          <p:spPr>
            <a:xfrm>
              <a:off x="0" y="0"/>
              <a:ext cx="3249422" cy="13716000"/>
            </a:xfrm>
            <a:custGeom>
              <a:avLst/>
              <a:gdLst/>
              <a:ahLst/>
              <a:cxnLst/>
              <a:rect l="l" t="t" r="r" b="b"/>
              <a:pathLst>
                <a:path w="3249422" h="13716000">
                  <a:moveTo>
                    <a:pt x="0" y="0"/>
                  </a:moveTo>
                  <a:lnTo>
                    <a:pt x="3249422" y="0"/>
                  </a:lnTo>
                  <a:lnTo>
                    <a:pt x="324942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2817" r="-647509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35F80A7A-FEAD-5BBA-AEDA-C16D2F0CB32F}"/>
              </a:ext>
            </a:extLst>
          </p:cNvPr>
          <p:cNvGrpSpPr/>
          <p:nvPr/>
        </p:nvGrpSpPr>
        <p:grpSpPr>
          <a:xfrm>
            <a:off x="17145000" y="9534525"/>
            <a:ext cx="781812" cy="547688"/>
            <a:chOff x="0" y="0"/>
            <a:chExt cx="1042416" cy="73025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8C8FEF5-9BAD-E0E7-8F9D-945E777C96E9}"/>
                </a:ext>
              </a:extLst>
            </p:cNvPr>
            <p:cNvSpPr/>
            <p:nvPr/>
          </p:nvSpPr>
          <p:spPr>
            <a:xfrm>
              <a:off x="0" y="0"/>
              <a:ext cx="1042414" cy="730250"/>
            </a:xfrm>
            <a:custGeom>
              <a:avLst/>
              <a:gdLst/>
              <a:ahLst/>
              <a:cxnLst/>
              <a:rect l="l" t="t" r="r" b="b"/>
              <a:pathLst>
                <a:path w="1042414" h="730250">
                  <a:moveTo>
                    <a:pt x="0" y="0"/>
                  </a:moveTo>
                  <a:lnTo>
                    <a:pt x="1042414" y="0"/>
                  </a:lnTo>
                  <a:lnTo>
                    <a:pt x="1042414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81" r="-39881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4FD7F3A-1404-D529-2E4D-C1CAD6693604}"/>
                </a:ext>
              </a:extLst>
            </p:cNvPr>
            <p:cNvSpPr txBox="1"/>
            <p:nvPr/>
          </p:nvSpPr>
          <p:spPr>
            <a:xfrm>
              <a:off x="0" y="-19050"/>
              <a:ext cx="1042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520"/>
                </a:lnSpc>
              </a:pPr>
              <a:r>
                <a:rPr lang="en-US" sz="2100" dirty="0">
                  <a:solidFill>
                    <a:srgbClr val="243141"/>
                  </a:solidFill>
                  <a:latin typeface="Play"/>
                  <a:ea typeface="Play"/>
                  <a:cs typeface="Play"/>
                  <a:sym typeface="Play"/>
                </a:rPr>
                <a:t>‹#›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CFF9077-8780-5461-F960-40E9D705753D}"/>
              </a:ext>
            </a:extLst>
          </p:cNvPr>
          <p:cNvSpPr txBox="1"/>
          <p:nvPr/>
        </p:nvSpPr>
        <p:spPr>
          <a:xfrm rot="5400000">
            <a:off x="-4289265" y="5882111"/>
            <a:ext cx="8963416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Integrador VII – Projeto de Pesquisa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9762C8A-0D2D-D0E1-84BE-058459A9B86B}"/>
              </a:ext>
            </a:extLst>
          </p:cNvPr>
          <p:cNvSpPr txBox="1"/>
          <p:nvPr/>
        </p:nvSpPr>
        <p:spPr>
          <a:xfrm>
            <a:off x="1796834" y="130788"/>
            <a:ext cx="8990571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 Digital</a:t>
            </a:r>
          </a:p>
          <a:p>
            <a:pPr algn="l">
              <a:lnSpc>
                <a:spcPts val="3240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92BFA8A7-2B4A-4EBF-82E0-26D219FFE93D}"/>
              </a:ext>
            </a:extLst>
          </p:cNvPr>
          <p:cNvSpPr/>
          <p:nvPr/>
        </p:nvSpPr>
        <p:spPr>
          <a:xfrm rot="8250539">
            <a:off x="34528" y="973741"/>
            <a:ext cx="1875663" cy="0"/>
          </a:xfrm>
          <a:prstGeom prst="line">
            <a:avLst/>
          </a:prstGeom>
          <a:ln w="19050" cap="rnd">
            <a:solidFill>
              <a:srgbClr val="3345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8442681C-6554-60E6-A58C-0202ACBC30A6}"/>
              </a:ext>
            </a:extLst>
          </p:cNvPr>
          <p:cNvGrpSpPr/>
          <p:nvPr/>
        </p:nvGrpSpPr>
        <p:grpSpPr>
          <a:xfrm>
            <a:off x="-155534" y="8870823"/>
            <a:ext cx="1860937" cy="1860937"/>
            <a:chOff x="0" y="0"/>
            <a:chExt cx="2481250" cy="2481250"/>
          </a:xfrm>
        </p:grpSpPr>
        <p:sp>
          <p:nvSpPr>
            <p:cNvPr id="16" name="Freeform 16" descr="Logotipo  Descrição gerada automaticamente">
              <a:extLst>
                <a:ext uri="{FF2B5EF4-FFF2-40B4-BE49-F238E27FC236}">
                  <a16:creationId xmlns:a16="http://schemas.microsoft.com/office/drawing/2014/main" id="{C8022E1E-D740-A426-47CC-665D313BBAD4}"/>
                </a:ext>
              </a:extLst>
            </p:cNvPr>
            <p:cNvSpPr/>
            <p:nvPr/>
          </p:nvSpPr>
          <p:spPr>
            <a:xfrm>
              <a:off x="0" y="0"/>
              <a:ext cx="2481199" cy="2481199"/>
            </a:xfrm>
            <a:custGeom>
              <a:avLst/>
              <a:gdLst/>
              <a:ahLst/>
              <a:cxnLst/>
              <a:rect l="l" t="t" r="r" b="b"/>
              <a:pathLst>
                <a:path w="2481199" h="2481199">
                  <a:moveTo>
                    <a:pt x="0" y="0"/>
                  </a:moveTo>
                  <a:lnTo>
                    <a:pt x="2481199" y="0"/>
                  </a:lnTo>
                  <a:lnTo>
                    <a:pt x="2481199" y="2481199"/>
                  </a:lnTo>
                  <a:lnTo>
                    <a:pt x="0" y="2481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" b="-2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1BA0C82E-E403-4E64-4104-50FB824A1C53}"/>
              </a:ext>
            </a:extLst>
          </p:cNvPr>
          <p:cNvSpPr txBox="1"/>
          <p:nvPr/>
        </p:nvSpPr>
        <p:spPr>
          <a:xfrm>
            <a:off x="1528452" y="2862476"/>
            <a:ext cx="14023559" cy="517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3"/>
              </a:lnSpc>
            </a:pP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resultados demonstram que, embora muitos usuários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possuam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conhecimento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básico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sobre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digital, esse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conhecimento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é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aplicado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forma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consistente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dia.</a:t>
            </a:r>
          </a:p>
          <a:p>
            <a:pPr algn="ctr">
              <a:lnSpc>
                <a:spcPts val="4513"/>
              </a:lnSpc>
            </a:pP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-se,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portanto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lacuna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significativa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entre o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conhecimento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teórico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as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práticas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adotadas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ctr">
              <a:lnSpc>
                <a:spcPts val="4513"/>
              </a:lnSpc>
            </a:pP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Conclui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-se que a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digital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depende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apenas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ferramentas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tecnológicas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mas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principalmente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conscientização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376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educação</a:t>
            </a:r>
            <a:r>
              <a:rPr lang="en-US" sz="376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dos usuários</a:t>
            </a:r>
          </a:p>
          <a:p>
            <a:pPr algn="ctr">
              <a:lnSpc>
                <a:spcPts val="4513"/>
              </a:lnSpc>
            </a:pPr>
            <a:endParaRPr lang="en-US" sz="376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6728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1035</Words>
  <Application>Microsoft Office PowerPoint</Application>
  <PresentationFormat>Personalizar</PresentationFormat>
  <Paragraphs>204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Calibri</vt:lpstr>
      <vt:lpstr>Play</vt:lpstr>
      <vt:lpstr>Arial</vt:lpstr>
      <vt:lpstr>Arial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apresentação GPA NEAD.pptx</dc:title>
  <cp:lastModifiedBy>Robson Durães</cp:lastModifiedBy>
  <cp:revision>14</cp:revision>
  <dcterms:created xsi:type="dcterms:W3CDTF">2006-08-16T00:00:00Z</dcterms:created>
  <dcterms:modified xsi:type="dcterms:W3CDTF">2026-06-19T12:05:53Z</dcterms:modified>
  <dc:identifier>DAHH-EhW5PI</dc:identifier>
</cp:coreProperties>
</file>